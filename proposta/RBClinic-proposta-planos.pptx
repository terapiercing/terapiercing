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1536" y="-53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009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C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572000" cy="4572000"/>
          </a:xfrm>
          <a:prstGeom prst="ellipse">
            <a:avLst/>
          </a:prstGeom>
          <a:solidFill>
            <a:srgbClr val="D4AF37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212080" y="8321040"/>
            <a:ext cx="4572000" cy="4572000"/>
          </a:xfrm>
          <a:prstGeom prst="ellipse">
            <a:avLst/>
          </a:prstGeom>
          <a:solidFill>
            <a:srgbClr val="C4917B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20040" y="320040"/>
            <a:ext cx="6922008" cy="100492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AF3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76072" y="3840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r>
              <a:rPr lang="en-US" sz="1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00860" y="420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2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191256" y="1371600"/>
            <a:ext cx="1188720" cy="1188720"/>
          </a:xfrm>
          <a:prstGeom prst="ellipse">
            <a:avLst/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191256" y="1371600"/>
            <a:ext cx="1188720" cy="11887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D4AF3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191256" y="148132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" y="2834640"/>
            <a:ext cx="6409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4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DE USO · SISTEMA DE GESTÃO PARA ESTÉTICA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" y="3127248"/>
            <a:ext cx="6409944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gestão completa da sua clínica</a:t>
            </a:r>
            <a:endParaRPr lang="en-US" sz="2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um só lugar: </a:t>
            </a:r>
            <a:endParaRPr lang="en-US" sz="2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beleza</a:t>
            </a:r>
            <a:r>
              <a:rPr lang="en-US" sz="26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</a:t>
            </a:r>
            <a:r>
              <a:rPr lang="en-US" sz="26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organização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97280" y="4983480"/>
            <a:ext cx="5367528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online, anamnese digital com assinatura, ficha em PDF, confirmação por WhatsApp e área do cliente — tudo integrado, com design feito para o seu negócio.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5989320"/>
            <a:ext cx="491032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C4917B">
                <a:alpha val="55000"/>
              </a:srgbClr>
            </a:solidFill>
            <a:prstDash val="solid"/>
          </a:ln>
          <a:effectLst>
            <a:outerShdw blurRad="76200" dist="254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25880" y="6199632"/>
            <a:ext cx="4910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8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MENSAL · TRIMESTRAL · ANUAL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25880" y="6446520"/>
            <a:ext cx="49103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R$ 69,90</a:t>
            </a:r>
            <a:r>
              <a:rPr lang="en-US" sz="27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645920" y="7059168"/>
            <a:ext cx="427024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anual · Suporte completo e melhorias contínuas durante todo o contrato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348740" y="7882128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FBF7F3"/>
          </a:solidFill>
          <a:ln w="6350">
            <a:solidFill>
              <a:srgbClr val="C491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348740" y="7882128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online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92324" y="7882128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FBF7F3"/>
          </a:solidFill>
          <a:ln w="6350">
            <a:solidFill>
              <a:srgbClr val="C491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592324" y="7882128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 digital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35908" y="7882128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FBF7F3"/>
          </a:solidFill>
          <a:ln w="6350">
            <a:solidFill>
              <a:srgbClr val="C491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835908" y="7882128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+ PDF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79492" y="7882128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FBF7F3"/>
          </a:solidFill>
          <a:ln w="6350">
            <a:solidFill>
              <a:srgbClr val="C4917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079492" y="7882128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incluso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76072" y="10076688"/>
            <a:ext cx="6409944" cy="10973"/>
          </a:xfrm>
          <a:prstGeom prst="rect">
            <a:avLst/>
          </a:prstGeom>
          <a:solidFill>
            <a:srgbClr val="C4917B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76072" y="1014984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Proposta Comercial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766560" y="101498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8412480"/>
            <a:ext cx="4572000" cy="4572000"/>
          </a:xfrm>
          <a:prstGeom prst="ellipse">
            <a:avLst/>
          </a:prstGeom>
          <a:solidFill>
            <a:srgbClr val="C4917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D4AF37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r>
              <a:rPr lang="en-US" sz="1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179633" y="420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2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76072" y="914400"/>
            <a:ext cx="6409944" cy="12802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078992"/>
            <a:ext cx="6409944" cy="658368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mercado em expansão </a:t>
            </a: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exige gestão digital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76072" y="1810512"/>
            <a:ext cx="795528" cy="29261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6072" y="1993392"/>
            <a:ext cx="640994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setor de estética é um dos que mais crescem no Brasil — e a clínica que ainda depende de agenda de papel, fichas físicas e WhatsApp avulso perde tempo, dinheiro e clientes todos os dias.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2679192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BF7F3"/>
          </a:solidFill>
          <a:ln w="9525">
            <a:solidFill>
              <a:srgbClr val="C491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76072" y="28072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7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R$ 48 bi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1289304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Movimentados por ano pelo mercado de estética no Brasil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203704" y="2679192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BF7F3"/>
          </a:solidFill>
          <a:ln w="9525">
            <a:solidFill>
              <a:srgbClr val="C491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203704" y="28072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7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 mi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13432" y="3337560"/>
            <a:ext cx="1289304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80" dirty="0" err="1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</a:t>
            </a:r>
            <a:r>
              <a:rPr lang="en-US" sz="7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estéticos realizados por ano no país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831336" y="2679192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BF7F3"/>
          </a:solidFill>
          <a:ln w="9525">
            <a:solidFill>
              <a:srgbClr val="C491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831336" y="28072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7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4.º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941064" y="3337560"/>
            <a:ext cx="1289304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mercado de beleza do mundo — líder na América Latina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458968" y="2679192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BF7F3"/>
          </a:solidFill>
          <a:ln w="9525">
            <a:solidFill>
              <a:srgbClr val="C491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58968" y="28072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87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50%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68696" y="3337560"/>
            <a:ext cx="1289304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redução de faltas com confirmação automática de horários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76072" y="4233672"/>
            <a:ext cx="6409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r>
              <a:rPr lang="en-US" sz="135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O que o </a:t>
            </a:r>
            <a:r>
              <a:rPr lang="en-US" sz="1350" b="1" dirty="0" err="1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RBClinic</a:t>
            </a:r>
            <a:r>
              <a:rPr lang="en-US" sz="135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resolve: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76072" y="4736592"/>
            <a:ext cx="128016" cy="128016"/>
          </a:xfrm>
          <a:prstGeom prst="ellipse">
            <a:avLst/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95528" y="4690872"/>
            <a:ext cx="6190488" cy="36576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das fichas de anamnese em papel: o cliente preenche digitalmente, assina na tela e o sistema arquiva com data e hora.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76072" y="5138928"/>
            <a:ext cx="128016" cy="128016"/>
          </a:xfrm>
          <a:prstGeom prst="ellipse">
            <a:avLst/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95528" y="5093208"/>
            <a:ext cx="6190488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faltas com confirmação automática por WhatsApp no momento em que o horário é </a:t>
            </a:r>
            <a:r>
              <a:rPr lang="en-US" sz="960" dirty="0" err="1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</a:t>
            </a:r>
            <a:r>
              <a:rPr lang="en-US" sz="9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76072" y="5541264"/>
            <a:ext cx="128016" cy="128016"/>
          </a:xfrm>
          <a:prstGeom prst="ellipse">
            <a:avLst/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95528" y="5495544"/>
            <a:ext cx="6190488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agenda sozinho, 24h por dia, direto pelo site da clínica — sem ligações e sem mensagens perdidas.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576072" y="5943600"/>
            <a:ext cx="128016" cy="128016"/>
          </a:xfrm>
          <a:prstGeom prst="ellipse">
            <a:avLst/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95528" y="5897880"/>
            <a:ext cx="6190488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cada cliente em um clique: procedimentos, formulários preenchidos e assinaturas.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76072" y="6345936"/>
            <a:ext cx="128016" cy="128016"/>
          </a:xfrm>
          <a:prstGeom prst="ellipse">
            <a:avLst/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95528" y="6300216"/>
            <a:ext cx="6190488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fiscalização sanitária: fichas digitais assinadas e exportáveis em PDF.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76072" y="6748272"/>
            <a:ext cx="128016" cy="128016"/>
          </a:xfrm>
          <a:prstGeom prst="ellipse">
            <a:avLst/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95528" y="6702552"/>
            <a:ext cx="6190488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profissional: identidade visual elegante e responsiva para a sua marca.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76072" y="7178040"/>
            <a:ext cx="6409944" cy="658368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9525">
            <a:solidFill>
              <a:srgbClr val="D4AF3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40664" y="7251192"/>
            <a:ext cx="60807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RBClinic não é apenas uma agenda: é a central de relacionamento da sua clínica com cada cliente — do primeiro agendamento ao acompanhamento do histórico.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76072" y="10076688"/>
            <a:ext cx="6409944" cy="10973"/>
          </a:xfrm>
          <a:prstGeom prst="rect">
            <a:avLst/>
          </a:prstGeom>
          <a:solidFill>
            <a:srgbClr val="C4917B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76072" y="1014984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Proposta Comercial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766560" y="101498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8412480"/>
            <a:ext cx="4572000" cy="457200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C4917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r>
              <a:rPr lang="en-US" sz="1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179635" y="420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2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· PARTE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76072" y="914400"/>
            <a:ext cx="6409944" cy="12802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078992"/>
            <a:ext cx="640994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o que o sistema </a:t>
            </a: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por você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76072" y="1810512"/>
            <a:ext cx="795528" cy="29261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6072" y="1993392"/>
            <a:ext cx="6409944" cy="566928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perfis de acesso em uma única plataforma: 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do cliente (agendamento e histórico </a:t>
            </a:r>
            <a:r>
              <a:rPr lang="en-US" sz="1000" dirty="0" err="1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próprios</a:t>
            </a: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administrativo (gestão completa da clínica).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2679192"/>
            <a:ext cx="311353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22376" y="28254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43000" y="2807208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ONLINE 24H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2376" y="3282696"/>
            <a:ext cx="282092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escolhe o procedimento, a data e o horário disponível sozinho, pelo site da clínica — a qualquer hora, de qualquer dispositivo.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872484" y="2679192"/>
            <a:ext cx="311353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018788" y="28254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439412" y="2807208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18788" y="3282696"/>
            <a:ext cx="282092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com a agenda organizada e fluxo de status completo: Pendente, Confirmado, Concluído e Cancelado.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76072" y="4251960"/>
            <a:ext cx="311353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22376" y="439826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143000" y="4379976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POR WHATSAPP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2376" y="4855464"/>
            <a:ext cx="282092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confirmar um horário, o sistema gera automaticamente uma mensagem personalizada de confirmação no WhatsApp do cliente.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872484" y="4251960"/>
            <a:ext cx="311353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018788" y="439826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439412" y="4379976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AGENDA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18788" y="4855464"/>
            <a:ext cx="282092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Feriados, férias, reuniões ou horário de almoço: bloqueie o dia inteiro ou apenas um período específico, com o motivo registrado.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76072" y="5824728"/>
            <a:ext cx="311353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22376" y="59710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143000" y="5952744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PROCEDIMENTOS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2376" y="6428232"/>
            <a:ext cx="282092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seus serviços com preço, duração e descrição — e ative ou desative rapidamente cada um deles na vitrine de agendamento.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3872484" y="5824728"/>
            <a:ext cx="311353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018788" y="59710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439412" y="5952744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DE FUNCIONAMENTO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18788" y="6428232"/>
            <a:ext cx="282092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os dias e horários de atendimento de cada dia da semana. O sistema só oferece horários dentro da sua disponibilidade.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76072" y="10076688"/>
            <a:ext cx="6409944" cy="10973"/>
          </a:xfrm>
          <a:prstGeom prst="rect">
            <a:avLst/>
          </a:prstGeom>
          <a:solidFill>
            <a:srgbClr val="C4917B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576072" y="1014984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Proposta Comercial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766560" y="101498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8412480"/>
            <a:ext cx="4572000" cy="4572000"/>
          </a:xfrm>
          <a:prstGeom prst="ellipse">
            <a:avLst/>
          </a:prstGeom>
          <a:solidFill>
            <a:srgbClr val="C4917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D4AF37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r>
              <a:rPr lang="en-US" sz="1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172258" y="420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2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· PARTE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76072" y="914400"/>
            <a:ext cx="6409944" cy="12802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078992"/>
            <a:ext cx="640994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Anamnese, assinatura e </a:t>
            </a: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relacionamento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76072" y="1810512"/>
            <a:ext cx="795528" cy="29261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6072" y="1993392"/>
            <a:ext cx="640994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poucos sistemas entregam: formulários personalizáveis, assinatura digital, ficha em PDF e portal do cliente — sem cobrança extra de módulos.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2679192"/>
            <a:ext cx="31135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22376" y="28254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43000" y="2807208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 DIGITAL PERSONALIZÁVEL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2376" y="3246120"/>
            <a:ext cx="282092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formulários sob medida por procedimento, com 8 tipos de campo e recorrência configurável: só na 1ª vez ou em todo atendimento.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872484" y="2679192"/>
            <a:ext cx="31135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018788" y="28254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439412" y="2807208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 + TERMO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18788" y="3246120"/>
            <a:ext cx="282092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assina na tela do celular ou tablet e aceita o termo, com data e hora registradas — validade e rastreabilidade para a sua rotina.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76072" y="4123944"/>
            <a:ext cx="31135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22376" y="42702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143000" y="4251960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ANAMNESE EM PDF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2376" y="4690872"/>
            <a:ext cx="282092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cada ficha assinada em PDF com a assinatura digital — pronta para arquivar, imprimir ou apresentar à fiscalização sanitária.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872484" y="4123944"/>
            <a:ext cx="31135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018788" y="42702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439412" y="4251960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DO CLIENTE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18788" y="4690872"/>
            <a:ext cx="282092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clique: todos os agendamentos, procedimentos realizados e formulários preenchidos por cada cliente, com suas assinaturas.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76072" y="5568696"/>
            <a:ext cx="31135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22376" y="57150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143000" y="5696712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CLIENTE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2376" y="6135624"/>
            <a:ext cx="282092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pessoal com login próprio: o cliente acompanha seus agendamentos, histórico e perfil. Experiência premium que fideliza.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3872484" y="5568696"/>
            <a:ext cx="31135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018788" y="57150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439412" y="5696712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18788" y="6135624"/>
            <a:ext cx="282092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essenciais em um só lugar: total de agendamentos, próximo atendimento e próximo serviço da agenda.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76072" y="7123176"/>
            <a:ext cx="6409944" cy="786384"/>
          </a:xfrm>
          <a:prstGeom prst="roundRect">
            <a:avLst>
              <a:gd name="adj" fmla="val 10465"/>
            </a:avLst>
          </a:prstGeom>
          <a:solidFill>
            <a:srgbClr val="FFFDF8"/>
          </a:solidFill>
          <a:ln w="9525">
            <a:solidFill>
              <a:srgbClr val="D4AF3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40664" y="7196328"/>
            <a:ext cx="6080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por trás de tudo: </a:t>
            </a:r>
            <a:r>
              <a:rPr lang="en-US" sz="96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completo de clientes</a:t>
            </a:r>
            <a:r>
              <a:rPr lang="en-US" sz="9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(CPF, nascimento, telefone e endereço), </a:t>
            </a:r>
            <a:r>
              <a:rPr lang="en-US" sz="96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por perfil</a:t>
            </a:r>
            <a:r>
              <a:rPr lang="en-US" sz="9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(admin e cliente) e </a:t>
            </a:r>
            <a:r>
              <a:rPr lang="en-US" sz="96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dados com isolamento por usuário</a:t>
            </a:r>
            <a:r>
              <a:rPr lang="en-US" sz="9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cada cliente acessa somente as próprias informações.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76072" y="10076688"/>
            <a:ext cx="6409944" cy="10973"/>
          </a:xfrm>
          <a:prstGeom prst="rect">
            <a:avLst/>
          </a:prstGeom>
          <a:solidFill>
            <a:srgbClr val="C4917B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576072" y="1014984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Proposta Comercial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766560" y="101498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8412480"/>
            <a:ext cx="4572000" cy="457200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C4917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r>
              <a:rPr lang="en-US" sz="1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231252" y="420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2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76072" y="914400"/>
            <a:ext cx="6409944" cy="12802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078992"/>
            <a:ext cx="640994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02000"/>
              </a:lnSpc>
            </a:pPr>
            <a:r>
              <a:rPr lang="en-US" sz="21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Diferenciais </a:t>
            </a:r>
            <a:r>
              <a:rPr lang="en-US" sz="2100" b="1" dirty="0" err="1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21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100" b="1" dirty="0" err="1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</a:t>
            </a: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100" b="1" dirty="0" err="1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cobramos</a:t>
            </a: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à </a:t>
            </a:r>
            <a:r>
              <a:rPr lang="en-US" sz="2100" b="1" dirty="0" err="1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76072" y="1810512"/>
            <a:ext cx="795528" cy="29261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6072" y="1993392"/>
            <a:ext cx="640994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mercado, os recursos mais valiosos para clínicas de estética costumam ser vendidos como módulos extras. No RBClinic, todos já vêm inclusos.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2679192"/>
            <a:ext cx="3113532" cy="1078992"/>
          </a:xfrm>
          <a:prstGeom prst="roundRect">
            <a:avLst>
              <a:gd name="adj" fmla="val 8475"/>
            </a:avLst>
          </a:prstGeom>
          <a:solidFill>
            <a:srgbClr val="FFFDF8"/>
          </a:solidFill>
          <a:ln w="9525">
            <a:solidFill>
              <a:srgbClr val="D4AF3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22376" y="2825496"/>
            <a:ext cx="329184" cy="329184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43000" y="2788920"/>
            <a:ext cx="24277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 inclusa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3136392"/>
            <a:ext cx="2400300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chegam a cobrar R$ 45/mês só pelo módulo de assinatura eletrônica. Aqui está no valor da licença.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872484" y="2679192"/>
            <a:ext cx="3113532" cy="1078992"/>
          </a:xfrm>
          <a:prstGeom prst="roundRect">
            <a:avLst>
              <a:gd name="adj" fmla="val 8475"/>
            </a:avLst>
          </a:prstGeom>
          <a:solidFill>
            <a:srgbClr val="FFFDF8"/>
          </a:solidFill>
          <a:ln w="9525">
            <a:solidFill>
              <a:srgbClr val="D4AF3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018788" y="2825496"/>
            <a:ext cx="329184" cy="329184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439412" y="2788920"/>
            <a:ext cx="24277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cliente inclusa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9412" y="3136392"/>
            <a:ext cx="2400300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sistemas que cobram R$ 150/mês pelo app do cliente. O portal da RBClinic já vem de fábrica.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76072" y="3941064"/>
            <a:ext cx="3113532" cy="1078992"/>
          </a:xfrm>
          <a:prstGeom prst="roundRect">
            <a:avLst>
              <a:gd name="adj" fmla="val 8475"/>
            </a:avLst>
          </a:prstGeom>
          <a:solidFill>
            <a:srgbClr val="FFFDF8"/>
          </a:solidFill>
          <a:ln w="9525">
            <a:solidFill>
              <a:srgbClr val="D4AF3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22376" y="4087368"/>
            <a:ext cx="329184" cy="329184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143000" y="4050792"/>
            <a:ext cx="24277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incluso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" y="4398264"/>
            <a:ext cx="2400300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confirmação que concorrentes vendem por até R$ 229/mês. No RBClinic é nativa.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872484" y="3941064"/>
            <a:ext cx="3113532" cy="1078992"/>
          </a:xfrm>
          <a:prstGeom prst="roundRect">
            <a:avLst>
              <a:gd name="adj" fmla="val 8475"/>
            </a:avLst>
          </a:prstGeom>
          <a:solidFill>
            <a:srgbClr val="FFFDF8"/>
          </a:solidFill>
          <a:ln w="9525">
            <a:solidFill>
              <a:srgbClr val="D4AF3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018788" y="4087368"/>
            <a:ext cx="329184" cy="329184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439412" y="4050792"/>
            <a:ext cx="24277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 evolução contínuos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9412" y="4398264"/>
            <a:ext cx="2400300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todo o contrato, suporte completo para erros e falhas e o sistema em constante evolução.</a:t>
            </a:r>
            <a:endParaRPr lang="en-US" sz="86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5340096"/>
          <a:ext cx="6409944" cy="3328416"/>
        </p:xfrm>
        <a:graphic>
          <a:graphicData uri="http://schemas.openxmlformats.org/drawingml/2006/table">
            <a:tbl>
              <a:tblPr/>
              <a:tblGrid>
                <a:gridCol w="294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0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5E4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RBClinic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7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E4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do mercado*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Agendamento online para o cliente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A8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Anamnese digital personalizável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A8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 digital + termo de consentimento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A8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R$ 45/mês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/ app do cliente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A8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R$ 150/mês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Confirmação por WhatsApp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A8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R$ 229/mês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Ficha de anamnese em PDF com assinatura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A8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 / não incluso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cobrança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A8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 · trimestral · anual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Mensalidade R$ 40 a 250/mês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Fidelidade / multa de cancelamento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A8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Comum (até 50%)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Implantação e treinamento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A8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consulta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Suporte a erros e falhas + melhorias contínuas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A8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 todo o contrato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5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 por plano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76072" y="8759952"/>
            <a:ext cx="64099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públicos de sistemas como Belle Software, Simples Agenda, Gestek, IterClinic e iClinic, verificados em 2026 (módulos e planos mensais).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576072" y="10076688"/>
            <a:ext cx="6409944" cy="10973"/>
          </a:xfrm>
          <a:prstGeom prst="rect">
            <a:avLst/>
          </a:prstGeom>
          <a:solidFill>
            <a:srgbClr val="C4917B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576072" y="1014984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Proposta Comercial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766560" y="101498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8412480"/>
            <a:ext cx="4572000" cy="4572000"/>
          </a:xfrm>
          <a:prstGeom prst="ellipse">
            <a:avLst/>
          </a:prstGeom>
          <a:solidFill>
            <a:srgbClr val="C4917B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D4AF37">
              <a:alpha val="1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r>
              <a:rPr lang="en-US" sz="1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0" y="420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2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76072" y="914400"/>
            <a:ext cx="6409944" cy="12802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078992"/>
            <a:ext cx="640994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Planos simples, </a:t>
            </a: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surpresas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76072" y="1810512"/>
            <a:ext cx="795528" cy="29261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6072" y="1993392"/>
            <a:ext cx="640994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licença é contratada de forma mensal, trimestral ou anual. Todos os planos incluem o sistema completo, o suporte e a evolução contínua do aplicativo durante todo o período de contrato.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2679192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4917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76072" y="2971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6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2461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R$ 89,90</a:t>
            </a:r>
            <a:r>
              <a:rPr lang="en-US" sz="23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0664" y="3886200"/>
            <a:ext cx="1682496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4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quem quer conhecer o sistema. Faturamento mensal, sem fidelidade e sem multa de cancelamento.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2770632" y="2679192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FBF7F3"/>
          </a:solidFill>
          <a:ln w="9525">
            <a:solidFill>
              <a:srgbClr val="C4917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935224" y="257860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935224" y="25786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kern="0" spc="50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ESCOLHIDO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2770632" y="2971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6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70632" y="32461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R$ 79,90</a:t>
            </a:r>
            <a:r>
              <a:rPr lang="en-US" sz="2300" dirty="0">
                <a:solidFill>
                  <a:srgbClr val="8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935224" y="3886200"/>
            <a:ext cx="1682496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4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a cada 3 meses (R$ 239,70). Economia de 11% frente ao plano mensal.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965192" y="2679192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4A3B35"/>
          </a:solidFill>
          <a:ln/>
          <a:effectLst>
            <a:outerShdw blurRad="88900" dist="254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129784" y="257860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129784" y="25786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CUSTO-BENEFÍCIO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965192" y="2971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60" dirty="0">
                <a:solidFill>
                  <a:srgbClr val="D9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65192" y="32461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EA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R$ 69,90</a:t>
            </a:r>
            <a:r>
              <a:rPr lang="en-US" sz="2300" dirty="0">
                <a:solidFill>
                  <a:srgbClr val="D9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5129784" y="3886200"/>
            <a:ext cx="1682496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40" dirty="0">
                <a:solidFill>
                  <a:srgbClr val="EF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anual (R$ 838,80). Economia de 22% e prioridade na fila de melhorias.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576072" y="5010912"/>
            <a:ext cx="6409944" cy="969264"/>
          </a:xfrm>
          <a:prstGeom prst="roundRect">
            <a:avLst>
              <a:gd name="adj" fmla="val 8491"/>
            </a:avLst>
          </a:prstGeom>
          <a:solidFill>
            <a:srgbClr val="FFFDF8"/>
          </a:solidFill>
          <a:ln w="9525">
            <a:solidFill>
              <a:srgbClr val="D4AF3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40664" y="5093208"/>
            <a:ext cx="608076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esse valor é justo? </a:t>
            </a:r>
            <a:r>
              <a:rPr lang="en-US" sz="94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mercado, sistemas para estética cobram de R$ 39,90 a R$ 250/mês — e recursos como assinatura eletrônica, app do cliente e WhatsApp são vendidos à parte (até R$ 424/mês extras). No RBClinic, </a:t>
            </a:r>
            <a:r>
              <a:rPr lang="en-US" sz="94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já está incluso</a:t>
            </a:r>
            <a:r>
              <a:rPr lang="en-US" sz="94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um plano a partir de R$ 69,90/mês: assinatura digital, ficha em PDF, área do cliente, confirmação por WhatsApp, suporte completo e melhorias contínuas durante todo o contrato.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576072" y="6144768"/>
            <a:ext cx="6409944" cy="777240"/>
          </a:xfrm>
          <a:prstGeom prst="roundRect">
            <a:avLst>
              <a:gd name="adj" fmla="val 10588"/>
            </a:avLst>
          </a:prstGeom>
          <a:solidFill>
            <a:srgbClr val="FBF7F3"/>
          </a:solidFill>
          <a:ln w="9525">
            <a:solidFill>
              <a:srgbClr val="D4AF3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576072" y="6144768"/>
            <a:ext cx="64008" cy="77724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95528" y="6217920"/>
            <a:ext cx="6025896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94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 transparente: </a:t>
            </a:r>
            <a:r>
              <a:rPr lang="en-US" sz="94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taxa de implantação, sem fidelidade e sem multa de cancelamento. Durante todo o período do contrato, o cliente conta com suporte para erros e falhas, recebe melhorias do sistema e pode propor novas funcionalidades.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576072" y="10076688"/>
            <a:ext cx="6409944" cy="10973"/>
          </a:xfrm>
          <a:prstGeom prst="rect">
            <a:avLst/>
          </a:prstGeom>
          <a:solidFill>
            <a:srgbClr val="C4917B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76072" y="1014984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Proposta Comercial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766560" y="101498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8412480"/>
            <a:ext cx="4572000" cy="457200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C4917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76072" y="3840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r>
              <a:rPr lang="en-US" sz="1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49440" y="420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20" dirty="0">
                <a:solidFill>
                  <a:srgbClr val="B0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GARANTIAS DO CONTRATO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76072" y="914400"/>
            <a:ext cx="6409944" cy="12802"/>
          </a:xfrm>
          <a:prstGeom prst="rect">
            <a:avLst/>
          </a:prstGeom>
          <a:solidFill>
            <a:srgbClr val="C4917B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078992"/>
            <a:ext cx="640994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Suporte e evolução </a:t>
            </a:r>
            <a:r>
              <a:rPr lang="en-US" sz="2100" b="1" dirty="0">
                <a:solidFill>
                  <a:srgbClr val="C4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durante todo o contrato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76072" y="1810512"/>
            <a:ext cx="795528" cy="29261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6072" y="1993392"/>
            <a:ext cx="640994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RBClinic não é um sistema entregue e abandonado: enquanto o contrato estiver vigente, sua clínica conta com suporte dedicado e recebe melhorias continuamente.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2679192"/>
            <a:ext cx="311353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22376" y="28254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43000" y="2788920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completo para erros e falhas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3000" y="3172968"/>
            <a:ext cx="2400300" cy="512064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todo o período do contrato, nossa equipe acompanha o sistema e corrige possíveis erros e falhas com agilidade.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872484" y="2679192"/>
            <a:ext cx="311353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018788" y="28254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439412" y="2788920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contínuo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39412" y="3172968"/>
            <a:ext cx="2400300" cy="512064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aplicativo permanece em fase de desenvolvimento e recebe a entrega de melhorias e novas funcionalidades durante todo o contrato.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76072" y="3941064"/>
            <a:ext cx="311353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22376" y="4087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143000" y="4050792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propostas pelo cliente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" y="4434840"/>
            <a:ext cx="2400300" cy="512064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sugestões da sua clínica podem ser implementadas, mediante aprovação técnica e análise de contexto do projeto.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872484" y="3941064"/>
            <a:ext cx="311353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4917B">
                <a:alpha val="40000"/>
              </a:srgbClr>
            </a:solidFill>
            <a:prstDash val="solid"/>
          </a:ln>
          <a:effectLst>
            <a:outerShdw blurRad="50800" dist="12700" dir="16200000" algn="bl" rotWithShape="0">
              <a:srgbClr val="4A3B35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018788" y="4087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439412" y="4050792"/>
            <a:ext cx="24277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inclusas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39412" y="4434840"/>
            <a:ext cx="2400300" cy="512064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versões chegam ao seu ambiente sem custo adicional, mantendo o sistema sempre atualizado durante toda a vigência.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76072" y="5367528"/>
            <a:ext cx="6409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r>
              <a:rPr lang="en-US" sz="1350" b="1" dirty="0">
                <a:solidFill>
                  <a:srgbClr val="4A3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Como funciona a implantação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76072" y="5788152"/>
            <a:ext cx="147904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C4917B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704088" y="5916168"/>
            <a:ext cx="310896" cy="310896"/>
          </a:xfrm>
          <a:prstGeom prst="ellipse">
            <a:avLst/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04088" y="5916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8136" y="5897880"/>
            <a:ext cx="85725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" y="6263640"/>
            <a:ext cx="1223010" cy="43891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Conhecemos a rotina da sua clínica, os procedimentos e os formulários necessários.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219706" y="5788152"/>
            <a:ext cx="147904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C4917B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2347722" y="5916168"/>
            <a:ext cx="310896" cy="310896"/>
          </a:xfrm>
          <a:prstGeom prst="ellipse">
            <a:avLst/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347722" y="5916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31770" y="5897880"/>
            <a:ext cx="85725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47722" y="6263640"/>
            <a:ext cx="1223010" cy="438912"/>
          </a:xfrm>
          <a:prstGeom prst="rect">
            <a:avLst/>
          </a:prstGeom>
          <a:noFill/>
          <a:ln/>
        </p:spPr>
        <p:txBody>
          <a:bodyPr wrap="square" rtlCol="0" anchor="t"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Cadastramos serviços, horários, formulários de anamnese e identidade visual.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3863340" y="5788152"/>
            <a:ext cx="147904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C4917B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3991356" y="5916168"/>
            <a:ext cx="310896" cy="310896"/>
          </a:xfrm>
          <a:prstGeom prst="ellipse">
            <a:avLst/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3991356" y="5916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75404" y="5897880"/>
            <a:ext cx="85725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91356" y="6263640"/>
            <a:ext cx="1223010" cy="438912"/>
          </a:xfrm>
          <a:prstGeom prst="rect">
            <a:avLst/>
          </a:prstGeom>
          <a:noFill/>
          <a:ln/>
        </p:spPr>
        <p:txBody>
          <a:bodyPr wrap="square" rtlCol="0" anchor="t"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equipe aprende na prática, com acompanhamento direto da implantação.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5506974" y="5788152"/>
            <a:ext cx="147904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C4917B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5634990" y="5916168"/>
            <a:ext cx="310896" cy="310896"/>
          </a:xfrm>
          <a:prstGeom prst="ellipse">
            <a:avLst/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5634990" y="5916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19038" y="5897880"/>
            <a:ext cx="85725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A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 evolução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34990" y="6263640"/>
            <a:ext cx="1223010" cy="43891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E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contínuo e entregas de melhorias durante todo o período do contrato.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76072" y="6922008"/>
            <a:ext cx="6409944" cy="731520"/>
          </a:xfrm>
          <a:prstGeom prst="roundRect">
            <a:avLst>
              <a:gd name="adj" fmla="val 12500"/>
            </a:avLst>
          </a:prstGeom>
          <a:solidFill>
            <a:srgbClr val="4A3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804672" y="70134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140" dirty="0">
                <a:solidFill>
                  <a:srgbClr val="F5E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PRONTA PARA DAR O PRÓXIMO PASSO?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04672" y="726948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9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em contato para conhecer o sistema na prática e receber sua demonstração.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148072" y="7141464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C491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5148072" y="7141464"/>
            <a:ext cx="16276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rickcgrj@gmail.com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76072" y="10076688"/>
            <a:ext cx="6409944" cy="10973"/>
          </a:xfrm>
          <a:prstGeom prst="rect">
            <a:avLst/>
          </a:prstGeom>
          <a:solidFill>
            <a:srgbClr val="C4917B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576072" y="1014984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9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RBClinic · Proposta Comercial · Documento de referência — condições finais sob acordo contratual.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766560" y="101498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49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1563</Words>
  <Application>Microsoft Office PowerPoint</Application>
  <PresentationFormat>Personalizar</PresentationFormat>
  <Paragraphs>182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RBClinic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RBClinic · Proposta Comercial</dc:title>
  <dc:subject>PptxGenJS Presentation</dc:subject>
  <dc:creator>RBClinic</dc:creator>
  <cp:keywords>Henrique Soares</cp:keywords>
  <cp:lastModifiedBy>Henrique Soares Lopes da Silva</cp:lastModifiedBy>
  <cp:revision>3</cp:revision>
  <dcterms:created xsi:type="dcterms:W3CDTF">2026-08-14T01:03:11Z</dcterms:created>
  <dcterms:modified xsi:type="dcterms:W3CDTF">2026-08-14T01:20:04Z</dcterms:modified>
  <cp:category>Henrique Soares</cp:category>
</cp:coreProperties>
</file>