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114800" cy="4114800"/>
          </a:xfrm>
          <a:prstGeom prst="ellipse">
            <a:avLst/>
          </a:prstGeom>
          <a:solidFill>
            <a:srgbClr val="D4AF3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4206240" cy="4206240"/>
          </a:xfrm>
          <a:prstGeom prst="ellipse">
            <a:avLst/>
          </a:prstGeom>
          <a:solidFill>
            <a:srgbClr val="C4917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DAS TELAS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2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CLÍNICAS DE ESTÉTICA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telas do aplicativo
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 que cada uma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pela sua clínica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online, anamnese digital com assinatura, confirmação por WhatsApp, área do cliente e painel administrativo completo — apresentados tela a tela.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responsivo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1609344" y="388620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388620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2670048" y="388620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388620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3730752" y="388620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88620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incluso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a [Nome da Clínica]  ·  Data: [dd/mm/aaaa]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0" y="640080"/>
            <a:ext cx="3657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640080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841248"/>
            <a:ext cx="365760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38928" y="71780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71780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71780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8" name="Shape 26"/>
          <p:cNvSpPr/>
          <p:nvPr/>
        </p:nvSpPr>
        <p:spPr>
          <a:xfrm>
            <a:off x="5559552" y="685800"/>
            <a:ext cx="298094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685800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57216" y="987552"/>
            <a:ext cx="340156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987552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algn="l" indent="0" marL="0">
              <a:buNone/>
            </a:pPr>
            <a:r>
              <a:rPr lang="en-US" sz="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8046720" y="100584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1005840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Cadastre-se</a:t>
            </a:r>
            <a:endParaRPr lang="en-US" sz="380" dirty="0"/>
          </a:p>
        </p:txBody>
      </p:sp>
      <p:sp>
        <p:nvSpPr>
          <p:cNvPr id="34" name="Text 32"/>
          <p:cNvSpPr/>
          <p:nvPr/>
        </p:nvSpPr>
        <p:spPr>
          <a:xfrm>
            <a:off x="5212080" y="1225296"/>
            <a:ext cx="146304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AVANÇADA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5212080" y="13350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beleza merece </a:t>
            </a:r>
            <a:pPr algn="l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cuidado</a:t>
            </a:r>
            <a:pPr algn="l" indent="0" marL="0">
              <a:buNone/>
            </a:pPr>
            <a:r>
              <a:rPr lang="en-US" sz="7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12080" y="1609344"/>
            <a:ext cx="3035808" cy="36576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1664208"/>
            <a:ext cx="3273552" cy="36576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38" name="Shape 36"/>
          <p:cNvSpPr/>
          <p:nvPr/>
        </p:nvSpPr>
        <p:spPr>
          <a:xfrm>
            <a:off x="5212080" y="1719072"/>
            <a:ext cx="3127248" cy="36576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39" name="Shape 37"/>
          <p:cNvSpPr/>
          <p:nvPr/>
        </p:nvSpPr>
        <p:spPr>
          <a:xfrm>
            <a:off x="5212080" y="1810512"/>
            <a:ext cx="457200" cy="118872"/>
          </a:xfrm>
          <a:prstGeom prst="roundRect">
            <a:avLst>
              <a:gd name="adj" fmla="val 46154"/>
            </a:avLst>
          </a:prstGeom>
          <a:solidFill>
            <a:srgbClr val="C4917B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1810512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Cadastre-se</a:t>
            </a:r>
            <a:endParaRPr lang="en-US" sz="380" dirty="0"/>
          </a:p>
        </p:txBody>
      </p:sp>
      <p:sp>
        <p:nvSpPr>
          <p:cNvPr id="41" name="Shape 39"/>
          <p:cNvSpPr/>
          <p:nvPr/>
        </p:nvSpPr>
        <p:spPr>
          <a:xfrm>
            <a:off x="5724144" y="1810512"/>
            <a:ext cx="457200" cy="118872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1810512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sou cliente</a:t>
            </a:r>
            <a:endParaRPr lang="en-US" sz="360" dirty="0"/>
          </a:p>
        </p:txBody>
      </p:sp>
      <p:sp>
        <p:nvSpPr>
          <p:cNvPr id="43" name="Shape 41"/>
          <p:cNvSpPr/>
          <p:nvPr/>
        </p:nvSpPr>
        <p:spPr>
          <a:xfrm>
            <a:off x="5212080" y="1993392"/>
            <a:ext cx="329184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48656" y="2029968"/>
            <a:ext cx="321868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Nossos Serviços</a:t>
            </a:r>
            <a:endParaRPr lang="en-US" sz="460" dirty="0"/>
          </a:p>
        </p:txBody>
      </p:sp>
      <p:sp>
        <p:nvSpPr>
          <p:cNvPr id="45" name="Shape 43"/>
          <p:cNvSpPr/>
          <p:nvPr/>
        </p:nvSpPr>
        <p:spPr>
          <a:xfrm>
            <a:off x="5230368" y="2176272"/>
            <a:ext cx="1591056" cy="256032"/>
          </a:xfrm>
          <a:prstGeom prst="roundRect">
            <a:avLst>
              <a:gd name="adj" fmla="val 7143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2194560"/>
            <a:ext cx="1536192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380" dirty="0"/>
          </a:p>
        </p:txBody>
      </p:sp>
      <p:sp>
        <p:nvSpPr>
          <p:cNvPr id="47" name="Text 45"/>
          <p:cNvSpPr/>
          <p:nvPr/>
        </p:nvSpPr>
        <p:spPr>
          <a:xfrm>
            <a:off x="5257800" y="2304288"/>
            <a:ext cx="1536192" cy="82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</a:t>
            </a:r>
            <a:endParaRPr lang="en-US" sz="380" dirty="0"/>
          </a:p>
        </p:txBody>
      </p:sp>
      <p:sp>
        <p:nvSpPr>
          <p:cNvPr id="48" name="Shape 46"/>
          <p:cNvSpPr/>
          <p:nvPr/>
        </p:nvSpPr>
        <p:spPr>
          <a:xfrm>
            <a:off x="6858000" y="2176272"/>
            <a:ext cx="1591056" cy="256032"/>
          </a:xfrm>
          <a:prstGeom prst="roundRect">
            <a:avLst>
              <a:gd name="adj" fmla="val 7143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2194560"/>
            <a:ext cx="1536192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</a:t>
            </a:r>
            <a:endParaRPr lang="en-US" sz="380" dirty="0"/>
          </a:p>
        </p:txBody>
      </p:sp>
      <p:sp>
        <p:nvSpPr>
          <p:cNvPr id="50" name="Text 48"/>
          <p:cNvSpPr/>
          <p:nvPr/>
        </p:nvSpPr>
        <p:spPr>
          <a:xfrm>
            <a:off x="6885432" y="2304288"/>
            <a:ext cx="1536192" cy="82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R$ 480</a:t>
            </a:r>
            <a:endParaRPr lang="en-US" sz="380" dirty="0"/>
          </a:p>
        </p:txBody>
      </p:sp>
      <p:sp>
        <p:nvSpPr>
          <p:cNvPr id="51" name="Shape 49"/>
          <p:cNvSpPr/>
          <p:nvPr/>
        </p:nvSpPr>
        <p:spPr>
          <a:xfrm>
            <a:off x="5230368" y="2459736"/>
            <a:ext cx="1591056" cy="256032"/>
          </a:xfrm>
          <a:prstGeom prst="roundRect">
            <a:avLst>
              <a:gd name="adj" fmla="val 7143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2478024"/>
            <a:ext cx="1536192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380" dirty="0"/>
          </a:p>
        </p:txBody>
      </p:sp>
      <p:sp>
        <p:nvSpPr>
          <p:cNvPr id="53" name="Text 51"/>
          <p:cNvSpPr/>
          <p:nvPr/>
        </p:nvSpPr>
        <p:spPr>
          <a:xfrm>
            <a:off x="5257800" y="2587752"/>
            <a:ext cx="1536192" cy="82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R$ 140</a:t>
            </a:r>
            <a:endParaRPr lang="en-US" sz="380" dirty="0"/>
          </a:p>
        </p:txBody>
      </p:sp>
      <p:sp>
        <p:nvSpPr>
          <p:cNvPr id="54" name="Shape 52"/>
          <p:cNvSpPr/>
          <p:nvPr/>
        </p:nvSpPr>
        <p:spPr>
          <a:xfrm>
            <a:off x="6858000" y="2459736"/>
            <a:ext cx="1591056" cy="256032"/>
          </a:xfrm>
          <a:prstGeom prst="roundRect">
            <a:avLst>
              <a:gd name="adj" fmla="val 7143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85432" y="2478024"/>
            <a:ext cx="1536192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Cílios</a:t>
            </a:r>
            <a:endParaRPr lang="en-US" sz="380" dirty="0"/>
          </a:p>
        </p:txBody>
      </p:sp>
      <p:sp>
        <p:nvSpPr>
          <p:cNvPr id="56" name="Text 54"/>
          <p:cNvSpPr/>
          <p:nvPr/>
        </p:nvSpPr>
        <p:spPr>
          <a:xfrm>
            <a:off x="6885432" y="2587752"/>
            <a:ext cx="1536192" cy="82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</a:t>
            </a:r>
            <a:endParaRPr lang="en-US" sz="3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828800"/>
            <a:ext cx="3840480" cy="384048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ambientes,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só sistema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RBClinic é organizado em três áreas: o site público (para o cliente conhecer e agendar), a área do cliente (login próprio) e o painel administrativo (gestão completa da clínica).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FBF7F3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371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5216" y="1984248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385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com vitrine de procedimentos e valores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" y="2496312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50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direto pelo link de cada serviço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5216" y="3008376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626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login de novos clientes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5216" y="3520440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13716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371600"/>
            <a:ext cx="2651760" cy="457200"/>
          </a:xfrm>
          <a:prstGeom prst="rect">
            <a:avLst/>
          </a:prstGeom>
          <a:solidFill>
            <a:srgbClr val="FBF7F3"/>
          </a:solidFill>
          <a:ln/>
        </p:spPr>
      </p:sp>
      <p:sp>
        <p:nvSpPr>
          <p:cNvPr id="22" name="Text 20"/>
          <p:cNvSpPr/>
          <p:nvPr/>
        </p:nvSpPr>
        <p:spPr>
          <a:xfrm>
            <a:off x="3374136" y="1371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74136" y="1984248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9385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pessoal com próximos agendamentos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74136" y="2496312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450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procedimentos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74136" y="3008376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9626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anamnese preenchidas e assinadas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74136" y="3520440"/>
            <a:ext cx="82296" cy="82296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47472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 dados pessoais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13716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056" y="1371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5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1984248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9385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 com fluxo de status completo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2496312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450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agendamento com horários disponíveis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63056" y="3008376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9626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 filtros de agendamentos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63056" y="3520440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47472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clientes e histórico em PDF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63056" y="4032504"/>
            <a:ext cx="82296" cy="822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98678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Configurações: serviços, formulários, horários e aparência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F7F3"/>
          </a:solidFill>
          <a:ln w="952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443984"/>
            <a:ext cx="790041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 perfil: cada cliente visualiza apenas as próprias informações; apenas administradores gerenciam agenda, clientes e configurações.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·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page: o primeiro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inicial apresenta a clínica, expõe os procedimentos com valores e leva o visitante direto para o agendamento ou cadastro.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2" name="Shape 20"/>
          <p:cNvSpPr/>
          <p:nvPr/>
        </p:nvSpPr>
        <p:spPr>
          <a:xfrm>
            <a:off x="3493008" y="1719072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1719072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4" name="Shape 22"/>
          <p:cNvSpPr/>
          <p:nvPr/>
        </p:nvSpPr>
        <p:spPr>
          <a:xfrm>
            <a:off x="585216" y="1938528"/>
            <a:ext cx="5047488" cy="2633472"/>
          </a:xfrm>
          <a:prstGeom prst="roundRect">
            <a:avLst>
              <a:gd name="adj" fmla="val 694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029968"/>
            <a:ext cx="234086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AVANÇADA</a:t>
            </a:r>
            <a:endParaRPr lang="en-US" sz="480" dirty="0"/>
          </a:p>
        </p:txBody>
      </p:sp>
      <p:sp>
        <p:nvSpPr>
          <p:cNvPr id="26" name="Text 24"/>
          <p:cNvSpPr/>
          <p:nvPr/>
        </p:nvSpPr>
        <p:spPr>
          <a:xfrm>
            <a:off x="658368" y="2157984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beleza merece </a:t>
            </a:r>
            <a:pPr algn="l"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cuidado</a:t>
            </a:r>
            <a:pPr algn="l" indent="0" marL="0">
              <a:buNone/>
            </a:pPr>
            <a:r>
              <a:rPr lang="en-US" sz="8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2505456"/>
            <a:ext cx="2066544" cy="45720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2569464"/>
            <a:ext cx="2340864" cy="45720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33472"/>
            <a:ext cx="2139696" cy="45720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2761488"/>
            <a:ext cx="566928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276148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Cadastre-se</a:t>
            </a:r>
            <a:endParaRPr lang="en-US" sz="460" dirty="0"/>
          </a:p>
        </p:txBody>
      </p:sp>
      <p:sp>
        <p:nvSpPr>
          <p:cNvPr id="32" name="Shape 30"/>
          <p:cNvSpPr/>
          <p:nvPr/>
        </p:nvSpPr>
        <p:spPr>
          <a:xfrm>
            <a:off x="1298448" y="2761488"/>
            <a:ext cx="56692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276148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sou cliente</a:t>
            </a:r>
            <a:endParaRPr lang="en-US" sz="440" dirty="0"/>
          </a:p>
        </p:txBody>
      </p:sp>
      <p:sp>
        <p:nvSpPr>
          <p:cNvPr id="34" name="Shape 32"/>
          <p:cNvSpPr/>
          <p:nvPr/>
        </p:nvSpPr>
        <p:spPr>
          <a:xfrm>
            <a:off x="3200400" y="2029968"/>
            <a:ext cx="2359152" cy="2487168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048256"/>
            <a:ext cx="2249424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Nossos Serviços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3255264" y="2212848"/>
            <a:ext cx="1106424" cy="310896"/>
          </a:xfrm>
          <a:prstGeom prst="roundRect">
            <a:avLst>
              <a:gd name="adj" fmla="val 8824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2240280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460" dirty="0"/>
          </a:p>
        </p:txBody>
      </p:sp>
      <p:sp>
        <p:nvSpPr>
          <p:cNvPr id="38" name="Text 36"/>
          <p:cNvSpPr/>
          <p:nvPr/>
        </p:nvSpPr>
        <p:spPr>
          <a:xfrm>
            <a:off x="3291840" y="2359152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</a:t>
            </a:r>
            <a:endParaRPr lang="en-US" sz="460" dirty="0"/>
          </a:p>
        </p:txBody>
      </p:sp>
      <p:sp>
        <p:nvSpPr>
          <p:cNvPr id="39" name="Shape 37"/>
          <p:cNvSpPr/>
          <p:nvPr/>
        </p:nvSpPr>
        <p:spPr>
          <a:xfrm>
            <a:off x="4398264" y="2212848"/>
            <a:ext cx="1106424" cy="310896"/>
          </a:xfrm>
          <a:prstGeom prst="roundRect">
            <a:avLst>
              <a:gd name="adj" fmla="val 8824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2240280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</a:t>
            </a:r>
            <a:endParaRPr lang="en-US" sz="460" dirty="0"/>
          </a:p>
        </p:txBody>
      </p:sp>
      <p:sp>
        <p:nvSpPr>
          <p:cNvPr id="41" name="Text 39"/>
          <p:cNvSpPr/>
          <p:nvPr/>
        </p:nvSpPr>
        <p:spPr>
          <a:xfrm>
            <a:off x="4434840" y="2359152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R$ 480</a:t>
            </a:r>
            <a:endParaRPr lang="en-US" sz="460" dirty="0"/>
          </a:p>
        </p:txBody>
      </p:sp>
      <p:sp>
        <p:nvSpPr>
          <p:cNvPr id="42" name="Shape 40"/>
          <p:cNvSpPr/>
          <p:nvPr/>
        </p:nvSpPr>
        <p:spPr>
          <a:xfrm>
            <a:off x="3255264" y="2560320"/>
            <a:ext cx="1106424" cy="310896"/>
          </a:xfrm>
          <a:prstGeom prst="roundRect">
            <a:avLst>
              <a:gd name="adj" fmla="val 8824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587752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460" dirty="0"/>
          </a:p>
        </p:txBody>
      </p:sp>
      <p:sp>
        <p:nvSpPr>
          <p:cNvPr id="44" name="Text 42"/>
          <p:cNvSpPr/>
          <p:nvPr/>
        </p:nvSpPr>
        <p:spPr>
          <a:xfrm>
            <a:off x="3291840" y="2706624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R$ 140</a:t>
            </a:r>
            <a:endParaRPr lang="en-US" sz="460" dirty="0"/>
          </a:p>
        </p:txBody>
      </p:sp>
      <p:sp>
        <p:nvSpPr>
          <p:cNvPr id="45" name="Shape 43"/>
          <p:cNvSpPr/>
          <p:nvPr/>
        </p:nvSpPr>
        <p:spPr>
          <a:xfrm>
            <a:off x="4398264" y="2560320"/>
            <a:ext cx="1106424" cy="310896"/>
          </a:xfrm>
          <a:prstGeom prst="roundRect">
            <a:avLst>
              <a:gd name="adj" fmla="val 8824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2587752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Cílios</a:t>
            </a:r>
            <a:endParaRPr lang="en-US" sz="460" dirty="0"/>
          </a:p>
        </p:txBody>
      </p:sp>
      <p:sp>
        <p:nvSpPr>
          <p:cNvPr id="47" name="Text 45"/>
          <p:cNvSpPr/>
          <p:nvPr/>
        </p:nvSpPr>
        <p:spPr>
          <a:xfrm>
            <a:off x="4434840" y="2706624"/>
            <a:ext cx="103327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</a:t>
            </a:r>
            <a:endParaRPr lang="en-US" sz="460" dirty="0"/>
          </a:p>
        </p:txBody>
      </p:sp>
      <p:sp>
        <p:nvSpPr>
          <p:cNvPr id="48" name="Shape 46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9" name="Text 47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dos procedimentos com preço e duração de cada um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1" name="Text 49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é um link direto para o agendamento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3" name="Text 51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de cadastro e login sempre visíveis no topo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5" name="Text 53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elegante, com as cores da identidade visual da clínica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474720"/>
            <a:ext cx="4023360" cy="402336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·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e acesso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 administradores entram com e-mail, CPF ou usuário. O perfil define exatamente o que cada um pode acessar.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https://sua-clinica.com.br/login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2852928"/>
          </a:xfrm>
          <a:prstGeom prst="roundRect">
            <a:avLst>
              <a:gd name="adj" fmla="val 641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47088" y="2118482"/>
            <a:ext cx="2523744" cy="2054108"/>
          </a:xfrm>
          <a:prstGeom prst="roundRect">
            <a:avLst>
              <a:gd name="adj" fmla="val 1335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222821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47088" y="2429378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 de volta!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149937" y="2612258"/>
            <a:ext cx="1918045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4801" y="2612258"/>
            <a:ext cx="1808317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CPF ou usuário</a:t>
            </a:r>
            <a:endParaRPr lang="en-US" sz="520" dirty="0"/>
          </a:p>
        </p:txBody>
      </p:sp>
      <p:sp>
        <p:nvSpPr>
          <p:cNvPr id="22" name="Shape 20"/>
          <p:cNvSpPr/>
          <p:nvPr/>
        </p:nvSpPr>
        <p:spPr>
          <a:xfrm>
            <a:off x="2149937" y="2813426"/>
            <a:ext cx="1918045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4801" y="2813426"/>
            <a:ext cx="1808317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520" dirty="0"/>
          </a:p>
        </p:txBody>
      </p:sp>
      <p:sp>
        <p:nvSpPr>
          <p:cNvPr id="24" name="Shape 22"/>
          <p:cNvSpPr/>
          <p:nvPr/>
        </p:nvSpPr>
        <p:spPr>
          <a:xfrm>
            <a:off x="2149937" y="3014594"/>
            <a:ext cx="1918045" cy="16459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149937" y="3014594"/>
            <a:ext cx="1918045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1847088" y="3215762"/>
            <a:ext cx="252374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minha senha</a:t>
            </a:r>
            <a:endParaRPr lang="en-US" sz="460" dirty="0"/>
          </a:p>
        </p:txBody>
      </p:sp>
      <p:sp>
        <p:nvSpPr>
          <p:cNvPr id="27" name="Shape 25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28" name="Text 26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com e-mail, CPF ou usuário + senha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Redirecionamento automático para a área correta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32" name="Text 30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 em duas etapas (verificação + redefinição)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34" name="Text 32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usuário: cada cliente acessa somente seus dados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·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Cadastro: cliente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cliente cria a conta: dados pessoais, contato, CPF e endereço — sem trabalho para a recepção.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https://sua-clinica.com.br/cadastro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2852928"/>
          </a:xfrm>
          <a:prstGeom prst="roundRect">
            <a:avLst>
              <a:gd name="adj" fmla="val 641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4239" y="1737360"/>
            <a:ext cx="3129443" cy="2624694"/>
          </a:xfrm>
          <a:prstGeom prst="roundRect">
            <a:avLst>
              <a:gd name="adj" fmla="val 1045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44239" y="1828800"/>
            <a:ext cx="3129443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algn="ct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44239" y="2011680"/>
            <a:ext cx="3129443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conta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1617391" y="217170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</a:t>
            </a:r>
            <a:endParaRPr lang="en-US" sz="380" dirty="0"/>
          </a:p>
        </p:txBody>
      </p:sp>
      <p:sp>
        <p:nvSpPr>
          <p:cNvPr id="21" name="Shape 19"/>
          <p:cNvSpPr/>
          <p:nvPr/>
        </p:nvSpPr>
        <p:spPr>
          <a:xfrm>
            <a:off x="1617391" y="221284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17170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380" dirty="0"/>
          </a:p>
        </p:txBody>
      </p:sp>
      <p:sp>
        <p:nvSpPr>
          <p:cNvPr id="23" name="Shape 21"/>
          <p:cNvSpPr/>
          <p:nvPr/>
        </p:nvSpPr>
        <p:spPr>
          <a:xfrm>
            <a:off x="3127248" y="221284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7391" y="233172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380" dirty="0"/>
          </a:p>
        </p:txBody>
      </p:sp>
      <p:sp>
        <p:nvSpPr>
          <p:cNvPr id="25" name="Shape 23"/>
          <p:cNvSpPr/>
          <p:nvPr/>
        </p:nvSpPr>
        <p:spPr>
          <a:xfrm>
            <a:off x="1617391" y="237286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233172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380" dirty="0"/>
          </a:p>
        </p:txBody>
      </p:sp>
      <p:sp>
        <p:nvSpPr>
          <p:cNvPr id="27" name="Shape 25"/>
          <p:cNvSpPr/>
          <p:nvPr/>
        </p:nvSpPr>
        <p:spPr>
          <a:xfrm>
            <a:off x="3127248" y="237286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7391" y="249174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380" dirty="0"/>
          </a:p>
        </p:txBody>
      </p:sp>
      <p:sp>
        <p:nvSpPr>
          <p:cNvPr id="29" name="Shape 27"/>
          <p:cNvSpPr/>
          <p:nvPr/>
        </p:nvSpPr>
        <p:spPr>
          <a:xfrm>
            <a:off x="1617391" y="253288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27248" y="249174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endParaRPr lang="en-US" sz="380" dirty="0"/>
          </a:p>
        </p:txBody>
      </p:sp>
      <p:sp>
        <p:nvSpPr>
          <p:cNvPr id="31" name="Shape 29"/>
          <p:cNvSpPr/>
          <p:nvPr/>
        </p:nvSpPr>
        <p:spPr>
          <a:xfrm>
            <a:off x="3127248" y="253288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17391" y="265176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Nascimento</a:t>
            </a:r>
            <a:endParaRPr lang="en-US" sz="380" dirty="0"/>
          </a:p>
        </p:txBody>
      </p:sp>
      <p:sp>
        <p:nvSpPr>
          <p:cNvPr id="33" name="Shape 31"/>
          <p:cNvSpPr/>
          <p:nvPr/>
        </p:nvSpPr>
        <p:spPr>
          <a:xfrm>
            <a:off x="1617391" y="269290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265176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</a:t>
            </a:r>
            <a:endParaRPr lang="en-US" sz="380" dirty="0"/>
          </a:p>
        </p:txBody>
      </p:sp>
      <p:sp>
        <p:nvSpPr>
          <p:cNvPr id="35" name="Shape 33"/>
          <p:cNvSpPr/>
          <p:nvPr/>
        </p:nvSpPr>
        <p:spPr>
          <a:xfrm>
            <a:off x="3127248" y="269290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17391" y="281178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</a:t>
            </a:r>
            <a:endParaRPr lang="en-US" sz="380" dirty="0"/>
          </a:p>
        </p:txBody>
      </p:sp>
      <p:sp>
        <p:nvSpPr>
          <p:cNvPr id="37" name="Shape 35"/>
          <p:cNvSpPr/>
          <p:nvPr/>
        </p:nvSpPr>
        <p:spPr>
          <a:xfrm>
            <a:off x="1617391" y="285292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2811780"/>
            <a:ext cx="1473281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380" dirty="0"/>
          </a:p>
        </p:txBody>
      </p:sp>
      <p:sp>
        <p:nvSpPr>
          <p:cNvPr id="39" name="Shape 37"/>
          <p:cNvSpPr/>
          <p:nvPr/>
        </p:nvSpPr>
        <p:spPr>
          <a:xfrm>
            <a:off x="3127248" y="2852928"/>
            <a:ext cx="1473281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17391" y="3031236"/>
            <a:ext cx="2983139" cy="16459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41" name="Text 39"/>
          <p:cNvSpPr/>
          <p:nvPr/>
        </p:nvSpPr>
        <p:spPr>
          <a:xfrm>
            <a:off x="1617391" y="3031236"/>
            <a:ext cx="2983139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1544239" y="3232404"/>
            <a:ext cx="3129443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tem uma conta? Faça login</a:t>
            </a:r>
            <a:endParaRPr lang="en-US" sz="440" dirty="0"/>
          </a:p>
        </p:txBody>
      </p:sp>
      <p:sp>
        <p:nvSpPr>
          <p:cNvPr id="43" name="Shape 41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4" name="Text 42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completo em uma única página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6" name="Text 44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automática para CPF e telefone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8" name="Text 46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essenciais para a ficha do cliente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0" name="Text 48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criada e liberada na hora para agendar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a clínica em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olhar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entrar, o administrador vê os indicadores do dia e os acessos rápidos para todos os módulos.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https://sua-clinica.com.br/dashboard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56816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440" dirty="0"/>
          </a:p>
        </p:txBody>
      </p:sp>
      <p:sp>
        <p:nvSpPr>
          <p:cNvPr id="28" name="Text 26"/>
          <p:cNvSpPr/>
          <p:nvPr/>
        </p:nvSpPr>
        <p:spPr>
          <a:xfrm>
            <a:off x="658368" y="20574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2267712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2286000"/>
            <a:ext cx="152400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Agendamentos</a:t>
            </a:r>
            <a:endParaRPr lang="en-US" sz="390" dirty="0"/>
          </a:p>
        </p:txBody>
      </p:sp>
      <p:sp>
        <p:nvSpPr>
          <p:cNvPr id="31" name="Text 29"/>
          <p:cNvSpPr/>
          <p:nvPr/>
        </p:nvSpPr>
        <p:spPr>
          <a:xfrm>
            <a:off x="694944" y="2377440"/>
            <a:ext cx="15240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310384" y="2267712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6960" y="2286000"/>
            <a:ext cx="152400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Agendamento</a:t>
            </a:r>
            <a:endParaRPr lang="en-US" sz="390" dirty="0"/>
          </a:p>
        </p:txBody>
      </p:sp>
      <p:sp>
        <p:nvSpPr>
          <p:cNvPr id="34" name="Text 32"/>
          <p:cNvSpPr/>
          <p:nvPr/>
        </p:nvSpPr>
        <p:spPr>
          <a:xfrm>
            <a:off x="2346960" y="2377440"/>
            <a:ext cx="15240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962400" y="2267712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8976" y="2286000"/>
            <a:ext cx="152400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Serviço</a:t>
            </a:r>
            <a:endParaRPr lang="en-US" sz="390" dirty="0"/>
          </a:p>
        </p:txBody>
      </p:sp>
      <p:sp>
        <p:nvSpPr>
          <p:cNvPr id="37" name="Text 35"/>
          <p:cNvSpPr/>
          <p:nvPr/>
        </p:nvSpPr>
        <p:spPr>
          <a:xfrm>
            <a:off x="3998976" y="2377440"/>
            <a:ext cx="152400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8368" y="265176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265176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77824" y="265176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41" name="Shape 39"/>
          <p:cNvSpPr/>
          <p:nvPr/>
        </p:nvSpPr>
        <p:spPr>
          <a:xfrm>
            <a:off x="2310384" y="265176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7816" y="265176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29840" y="265176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44" name="Shape 42"/>
          <p:cNvSpPr/>
          <p:nvPr/>
        </p:nvSpPr>
        <p:spPr>
          <a:xfrm>
            <a:off x="3962400" y="265176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9832" y="265176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81856" y="265176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47" name="Shape 45"/>
          <p:cNvSpPr/>
          <p:nvPr/>
        </p:nvSpPr>
        <p:spPr>
          <a:xfrm>
            <a:off x="5248656" y="2734056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F5E6DF"/>
          </a:solidFill>
          <a:ln/>
        </p:spPr>
      </p:sp>
      <p:sp>
        <p:nvSpPr>
          <p:cNvPr id="48" name="Text 46"/>
          <p:cNvSpPr/>
          <p:nvPr/>
        </p:nvSpPr>
        <p:spPr>
          <a:xfrm>
            <a:off x="5248656" y="2734056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360" dirty="0"/>
          </a:p>
        </p:txBody>
      </p:sp>
      <p:sp>
        <p:nvSpPr>
          <p:cNvPr id="49" name="Shape 47"/>
          <p:cNvSpPr/>
          <p:nvPr/>
        </p:nvSpPr>
        <p:spPr>
          <a:xfrm>
            <a:off x="658368" y="301752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01752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77824" y="301752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Cliente</a:t>
            </a:r>
            <a:endParaRPr lang="en-US" sz="460" dirty="0"/>
          </a:p>
        </p:txBody>
      </p:sp>
      <p:sp>
        <p:nvSpPr>
          <p:cNvPr id="52" name="Shape 50"/>
          <p:cNvSpPr/>
          <p:nvPr/>
        </p:nvSpPr>
        <p:spPr>
          <a:xfrm>
            <a:off x="1944624" y="3099816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F5E6DF"/>
          </a:solidFill>
          <a:ln/>
        </p:spPr>
      </p:sp>
      <p:sp>
        <p:nvSpPr>
          <p:cNvPr id="53" name="Text 51"/>
          <p:cNvSpPr/>
          <p:nvPr/>
        </p:nvSpPr>
        <p:spPr>
          <a:xfrm>
            <a:off x="1944624" y="3099816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360" dirty="0"/>
          </a:p>
        </p:txBody>
      </p:sp>
      <p:sp>
        <p:nvSpPr>
          <p:cNvPr id="54" name="Shape 52"/>
          <p:cNvSpPr/>
          <p:nvPr/>
        </p:nvSpPr>
        <p:spPr>
          <a:xfrm>
            <a:off x="2310384" y="301752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7816" y="301752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29840" y="301752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57" name="Shape 55"/>
          <p:cNvSpPr/>
          <p:nvPr/>
        </p:nvSpPr>
        <p:spPr>
          <a:xfrm>
            <a:off x="3962400" y="3017520"/>
            <a:ext cx="15971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89832" y="3017520"/>
            <a:ext cx="182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181856" y="3017520"/>
            <a:ext cx="12313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60" name="Shape 58"/>
          <p:cNvSpPr/>
          <p:nvPr/>
        </p:nvSpPr>
        <p:spPr>
          <a:xfrm>
            <a:off x="5248656" y="3099816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F5E6DF"/>
          </a:solidFill>
          <a:ln/>
        </p:spPr>
      </p:sp>
      <p:sp>
        <p:nvSpPr>
          <p:cNvPr id="61" name="Text 59"/>
          <p:cNvSpPr/>
          <p:nvPr/>
        </p:nvSpPr>
        <p:spPr>
          <a:xfrm>
            <a:off x="5248656" y="3099816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360" dirty="0"/>
          </a:p>
        </p:txBody>
      </p:sp>
      <p:sp>
        <p:nvSpPr>
          <p:cNvPr id="62" name="Shape 60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3" name="Text 61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Indicadores: total de agendamentos, próximo horário e próximo serviço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5" name="Text 63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todos os módulos em cards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7" name="Text 65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 mostra boas-vindas, contadores e atalhos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9" name="Text 67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identificam recursos exclusivos de administrador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do dia: do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pendente ao confirmado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agenda diária organiza os horários com status claro e ações em um clique — incluindo confirmação automática por WhatsApp.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https://sua-clinica.com.br/agendamentos/novo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47672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40" dirty="0"/>
          </a:p>
        </p:txBody>
      </p:sp>
      <p:sp>
        <p:nvSpPr>
          <p:cNvPr id="28" name="Shape 26"/>
          <p:cNvSpPr/>
          <p:nvPr/>
        </p:nvSpPr>
        <p:spPr>
          <a:xfrm>
            <a:off x="658368" y="2048256"/>
            <a:ext cx="4901184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2075688"/>
            <a:ext cx="566928" cy="73152"/>
          </a:xfrm>
          <a:prstGeom prst="roundRect">
            <a:avLst>
              <a:gd name="adj" fmla="val 37500"/>
            </a:avLst>
          </a:prstGeom>
          <a:solidFill>
            <a:srgbClr val="C4917B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2075688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480" dirty="0"/>
          </a:p>
        </p:txBody>
      </p:sp>
      <p:sp>
        <p:nvSpPr>
          <p:cNvPr id="31" name="Shape 29"/>
          <p:cNvSpPr/>
          <p:nvPr/>
        </p:nvSpPr>
        <p:spPr>
          <a:xfrm>
            <a:off x="1307592" y="2075688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2075688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480" dirty="0"/>
          </a:p>
        </p:txBody>
      </p:sp>
      <p:sp>
        <p:nvSpPr>
          <p:cNvPr id="33" name="Shape 31"/>
          <p:cNvSpPr/>
          <p:nvPr/>
        </p:nvSpPr>
        <p:spPr>
          <a:xfrm>
            <a:off x="1920240" y="2075688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2075688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480" dirty="0"/>
          </a:p>
        </p:txBody>
      </p:sp>
      <p:sp>
        <p:nvSpPr>
          <p:cNvPr id="35" name="Shape 33"/>
          <p:cNvSpPr/>
          <p:nvPr/>
        </p:nvSpPr>
        <p:spPr>
          <a:xfrm>
            <a:off x="2532888" y="2075688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32888" y="2075688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</a:t>
            </a:r>
            <a:endParaRPr lang="en-US" sz="480" dirty="0"/>
          </a:p>
        </p:txBody>
      </p:sp>
      <p:sp>
        <p:nvSpPr>
          <p:cNvPr id="37" name="Shape 35"/>
          <p:cNvSpPr/>
          <p:nvPr/>
        </p:nvSpPr>
        <p:spPr>
          <a:xfrm>
            <a:off x="658368" y="2231136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2231136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460" dirty="0"/>
          </a:p>
        </p:txBody>
      </p:sp>
      <p:sp>
        <p:nvSpPr>
          <p:cNvPr id="39" name="Text 37"/>
          <p:cNvSpPr/>
          <p:nvPr/>
        </p:nvSpPr>
        <p:spPr>
          <a:xfrm>
            <a:off x="969264" y="223113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460" dirty="0"/>
          </a:p>
        </p:txBody>
      </p:sp>
      <p:sp>
        <p:nvSpPr>
          <p:cNvPr id="40" name="Text 38"/>
          <p:cNvSpPr/>
          <p:nvPr/>
        </p:nvSpPr>
        <p:spPr>
          <a:xfrm>
            <a:off x="1664208" y="223113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Souza</a:t>
            </a:r>
            <a:endParaRPr lang="en-US" sz="420" dirty="0"/>
          </a:p>
        </p:txBody>
      </p:sp>
      <p:sp>
        <p:nvSpPr>
          <p:cNvPr id="41" name="Shape 39"/>
          <p:cNvSpPr/>
          <p:nvPr/>
        </p:nvSpPr>
        <p:spPr>
          <a:xfrm>
            <a:off x="4828032" y="224028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224028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E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440" dirty="0"/>
          </a:p>
        </p:txBody>
      </p:sp>
      <p:sp>
        <p:nvSpPr>
          <p:cNvPr id="43" name="Shape 41"/>
          <p:cNvSpPr/>
          <p:nvPr/>
        </p:nvSpPr>
        <p:spPr>
          <a:xfrm>
            <a:off x="5340096" y="2244852"/>
            <a:ext cx="219456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/>
        </p:spPr>
      </p:sp>
      <p:sp>
        <p:nvSpPr>
          <p:cNvPr id="44" name="Text 42"/>
          <p:cNvSpPr/>
          <p:nvPr/>
        </p:nvSpPr>
        <p:spPr>
          <a:xfrm>
            <a:off x="5340096" y="2244852"/>
            <a:ext cx="21945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520" dirty="0"/>
          </a:p>
        </p:txBody>
      </p:sp>
      <p:sp>
        <p:nvSpPr>
          <p:cNvPr id="45" name="Shape 43"/>
          <p:cNvSpPr/>
          <p:nvPr/>
        </p:nvSpPr>
        <p:spPr>
          <a:xfrm>
            <a:off x="658368" y="2404872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" y="2404872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460" dirty="0"/>
          </a:p>
        </p:txBody>
      </p:sp>
      <p:sp>
        <p:nvSpPr>
          <p:cNvPr id="47" name="Text 45"/>
          <p:cNvSpPr/>
          <p:nvPr/>
        </p:nvSpPr>
        <p:spPr>
          <a:xfrm>
            <a:off x="969264" y="240487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</a:t>
            </a:r>
            <a:endParaRPr lang="en-US" sz="460" dirty="0"/>
          </a:p>
        </p:txBody>
      </p:sp>
      <p:sp>
        <p:nvSpPr>
          <p:cNvPr id="48" name="Text 46"/>
          <p:cNvSpPr/>
          <p:nvPr/>
        </p:nvSpPr>
        <p:spPr>
          <a:xfrm>
            <a:off x="1664208" y="2404872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Lima</a:t>
            </a:r>
            <a:endParaRPr lang="en-US" sz="420" dirty="0"/>
          </a:p>
        </p:txBody>
      </p:sp>
      <p:sp>
        <p:nvSpPr>
          <p:cNvPr id="49" name="Shape 47"/>
          <p:cNvSpPr/>
          <p:nvPr/>
        </p:nvSpPr>
        <p:spPr>
          <a:xfrm>
            <a:off x="4828032" y="2414016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241401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440" dirty="0"/>
          </a:p>
        </p:txBody>
      </p:sp>
      <p:sp>
        <p:nvSpPr>
          <p:cNvPr id="51" name="Shape 49"/>
          <p:cNvSpPr/>
          <p:nvPr/>
        </p:nvSpPr>
        <p:spPr>
          <a:xfrm>
            <a:off x="5340096" y="2418588"/>
            <a:ext cx="219456" cy="11887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52" name="Text 50"/>
          <p:cNvSpPr/>
          <p:nvPr/>
        </p:nvSpPr>
        <p:spPr>
          <a:xfrm>
            <a:off x="5340096" y="2418588"/>
            <a:ext cx="21945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520" dirty="0"/>
          </a:p>
        </p:txBody>
      </p:sp>
      <p:sp>
        <p:nvSpPr>
          <p:cNvPr id="53" name="Shape 51"/>
          <p:cNvSpPr/>
          <p:nvPr/>
        </p:nvSpPr>
        <p:spPr>
          <a:xfrm>
            <a:off x="658368" y="2578608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" y="2578608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460" dirty="0"/>
          </a:p>
        </p:txBody>
      </p:sp>
      <p:sp>
        <p:nvSpPr>
          <p:cNvPr id="55" name="Text 53"/>
          <p:cNvSpPr/>
          <p:nvPr/>
        </p:nvSpPr>
        <p:spPr>
          <a:xfrm>
            <a:off x="969264" y="257860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460" dirty="0"/>
          </a:p>
        </p:txBody>
      </p:sp>
      <p:sp>
        <p:nvSpPr>
          <p:cNvPr id="56" name="Text 54"/>
          <p:cNvSpPr/>
          <p:nvPr/>
        </p:nvSpPr>
        <p:spPr>
          <a:xfrm>
            <a:off x="1664208" y="2578608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Rocha</a:t>
            </a:r>
            <a:endParaRPr lang="en-US" sz="420" dirty="0"/>
          </a:p>
        </p:txBody>
      </p:sp>
      <p:sp>
        <p:nvSpPr>
          <p:cNvPr id="57" name="Shape 55"/>
          <p:cNvSpPr/>
          <p:nvPr/>
        </p:nvSpPr>
        <p:spPr>
          <a:xfrm>
            <a:off x="4828032" y="2587752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/>
        </p:spPr>
      </p:sp>
      <p:sp>
        <p:nvSpPr>
          <p:cNvPr id="58" name="Text 56"/>
          <p:cNvSpPr/>
          <p:nvPr/>
        </p:nvSpPr>
        <p:spPr>
          <a:xfrm>
            <a:off x="4828032" y="258775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440" dirty="0"/>
          </a:p>
        </p:txBody>
      </p:sp>
      <p:sp>
        <p:nvSpPr>
          <p:cNvPr id="59" name="Shape 57"/>
          <p:cNvSpPr/>
          <p:nvPr/>
        </p:nvSpPr>
        <p:spPr>
          <a:xfrm>
            <a:off x="5340096" y="2592324"/>
            <a:ext cx="219456" cy="11887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60" name="Text 58"/>
          <p:cNvSpPr/>
          <p:nvPr/>
        </p:nvSpPr>
        <p:spPr>
          <a:xfrm>
            <a:off x="5340096" y="2592324"/>
            <a:ext cx="21945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520" dirty="0"/>
          </a:p>
        </p:txBody>
      </p:sp>
      <p:sp>
        <p:nvSpPr>
          <p:cNvPr id="61" name="Shape 59"/>
          <p:cNvSpPr/>
          <p:nvPr/>
        </p:nvSpPr>
        <p:spPr>
          <a:xfrm>
            <a:off x="658368" y="2752344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" y="2752344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460" dirty="0"/>
          </a:p>
        </p:txBody>
      </p:sp>
      <p:sp>
        <p:nvSpPr>
          <p:cNvPr id="63" name="Text 61"/>
          <p:cNvSpPr/>
          <p:nvPr/>
        </p:nvSpPr>
        <p:spPr>
          <a:xfrm>
            <a:off x="969264" y="275234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Cílios</a:t>
            </a:r>
            <a:endParaRPr lang="en-US" sz="460" dirty="0"/>
          </a:p>
        </p:txBody>
      </p:sp>
      <p:sp>
        <p:nvSpPr>
          <p:cNvPr id="64" name="Text 62"/>
          <p:cNvSpPr/>
          <p:nvPr/>
        </p:nvSpPr>
        <p:spPr>
          <a:xfrm>
            <a:off x="1664208" y="2752344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Beatriz</a:t>
            </a:r>
            <a:endParaRPr lang="en-US" sz="420" dirty="0"/>
          </a:p>
        </p:txBody>
      </p:sp>
      <p:sp>
        <p:nvSpPr>
          <p:cNvPr id="65" name="Shape 63"/>
          <p:cNvSpPr/>
          <p:nvPr/>
        </p:nvSpPr>
        <p:spPr>
          <a:xfrm>
            <a:off x="4828032" y="2761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/>
        </p:spPr>
      </p:sp>
      <p:sp>
        <p:nvSpPr>
          <p:cNvPr id="66" name="Text 64"/>
          <p:cNvSpPr/>
          <p:nvPr/>
        </p:nvSpPr>
        <p:spPr>
          <a:xfrm>
            <a:off x="4828032" y="276148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E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440" dirty="0"/>
          </a:p>
        </p:txBody>
      </p:sp>
      <p:sp>
        <p:nvSpPr>
          <p:cNvPr id="67" name="Shape 65"/>
          <p:cNvSpPr/>
          <p:nvPr/>
        </p:nvSpPr>
        <p:spPr>
          <a:xfrm>
            <a:off x="5340096" y="2766060"/>
            <a:ext cx="219456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/>
        </p:spPr>
      </p:sp>
      <p:sp>
        <p:nvSpPr>
          <p:cNvPr id="68" name="Text 66"/>
          <p:cNvSpPr/>
          <p:nvPr/>
        </p:nvSpPr>
        <p:spPr>
          <a:xfrm>
            <a:off x="5340096" y="2766060"/>
            <a:ext cx="21945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520" dirty="0"/>
          </a:p>
        </p:txBody>
      </p:sp>
      <p:sp>
        <p:nvSpPr>
          <p:cNvPr id="69" name="Text 67"/>
          <p:cNvSpPr/>
          <p:nvPr/>
        </p:nvSpPr>
        <p:spPr>
          <a:xfrm>
            <a:off x="658368" y="2999232"/>
            <a:ext cx="490118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3E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confirmar, o cliente recebe automaticamente uma mensagem de confirmação no WhatsApp.</a:t>
            </a:r>
            <a:endParaRPr lang="en-US" sz="420" dirty="0"/>
          </a:p>
        </p:txBody>
      </p:sp>
      <p:sp>
        <p:nvSpPr>
          <p:cNvPr id="70" name="Shape 68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1" name="Text 69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status: Pendente, Confirmado, Concluído e Cancelado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3" name="Text 71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confirmar, o sistema envia mensagem de confirmação no WhatsApp do cliente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5" name="Text 73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 de agenda para feriados, férias e reuniões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7" name="Text 75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anamnese vinculada quando o procedimento exige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474720"/>
            <a:ext cx="4023360" cy="402336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 agendamento em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procedimento, data e horário disponível. O sistema valida o horário com a disponibilidade da clínica.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https://sua-clinica.com.br/agendamentos/novo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1947672"/>
            <a:ext cx="4901184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480" dirty="0"/>
          </a:p>
        </p:txBody>
      </p:sp>
      <p:sp>
        <p:nvSpPr>
          <p:cNvPr id="30" name="Shape 28"/>
          <p:cNvSpPr/>
          <p:nvPr/>
        </p:nvSpPr>
        <p:spPr>
          <a:xfrm>
            <a:off x="1307592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7592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480" dirty="0"/>
          </a:p>
        </p:txBody>
      </p:sp>
      <p:sp>
        <p:nvSpPr>
          <p:cNvPr id="32" name="Shape 30"/>
          <p:cNvSpPr/>
          <p:nvPr/>
        </p:nvSpPr>
        <p:spPr>
          <a:xfrm>
            <a:off x="1920240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C4917B"/>
          </a:solidFill>
          <a:ln/>
        </p:spPr>
      </p:sp>
      <p:sp>
        <p:nvSpPr>
          <p:cNvPr id="33" name="Text 31"/>
          <p:cNvSpPr/>
          <p:nvPr/>
        </p:nvSpPr>
        <p:spPr>
          <a:xfrm>
            <a:off x="1920240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480" dirty="0"/>
          </a:p>
        </p:txBody>
      </p:sp>
      <p:sp>
        <p:nvSpPr>
          <p:cNvPr id="34" name="Shape 32"/>
          <p:cNvSpPr/>
          <p:nvPr/>
        </p:nvSpPr>
        <p:spPr>
          <a:xfrm>
            <a:off x="2532888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</a:t>
            </a:r>
            <a:endParaRPr lang="en-US" sz="480" dirty="0"/>
          </a:p>
        </p:txBody>
      </p:sp>
      <p:sp>
        <p:nvSpPr>
          <p:cNvPr id="36" name="Text 34"/>
          <p:cNvSpPr/>
          <p:nvPr/>
        </p:nvSpPr>
        <p:spPr>
          <a:xfrm>
            <a:off x="658368" y="2121408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Agendamento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658368" y="2267712"/>
            <a:ext cx="1097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420" dirty="0"/>
          </a:p>
        </p:txBody>
      </p:sp>
      <p:sp>
        <p:nvSpPr>
          <p:cNvPr id="38" name="Shape 36"/>
          <p:cNvSpPr/>
          <p:nvPr/>
        </p:nvSpPr>
        <p:spPr>
          <a:xfrm>
            <a:off x="658368" y="2340864"/>
            <a:ext cx="2624694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340864"/>
            <a:ext cx="2514966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520" dirty="0"/>
          </a:p>
        </p:txBody>
      </p:sp>
      <p:sp>
        <p:nvSpPr>
          <p:cNvPr id="40" name="Text 38"/>
          <p:cNvSpPr/>
          <p:nvPr/>
        </p:nvSpPr>
        <p:spPr>
          <a:xfrm>
            <a:off x="658368" y="2505456"/>
            <a:ext cx="1097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20" dirty="0"/>
          </a:p>
        </p:txBody>
      </p:sp>
      <p:sp>
        <p:nvSpPr>
          <p:cNvPr id="41" name="Shape 39"/>
          <p:cNvSpPr/>
          <p:nvPr/>
        </p:nvSpPr>
        <p:spPr>
          <a:xfrm>
            <a:off x="658368" y="2578608"/>
            <a:ext cx="2624694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2578608"/>
            <a:ext cx="2514966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12/03/2026</a:t>
            </a:r>
            <a:endParaRPr lang="en-US" sz="520" dirty="0"/>
          </a:p>
        </p:txBody>
      </p:sp>
      <p:sp>
        <p:nvSpPr>
          <p:cNvPr id="43" name="Text 41"/>
          <p:cNvSpPr/>
          <p:nvPr/>
        </p:nvSpPr>
        <p:spPr>
          <a:xfrm>
            <a:off x="658368" y="2743200"/>
            <a:ext cx="1097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disponíveis</a:t>
            </a:r>
            <a:endParaRPr lang="en-US" sz="420" dirty="0"/>
          </a:p>
        </p:txBody>
      </p:sp>
      <p:sp>
        <p:nvSpPr>
          <p:cNvPr id="44" name="Shape 42"/>
          <p:cNvSpPr/>
          <p:nvPr/>
        </p:nvSpPr>
        <p:spPr>
          <a:xfrm>
            <a:off x="658368" y="2816352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2816352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440" dirty="0"/>
          </a:p>
        </p:txBody>
      </p:sp>
      <p:sp>
        <p:nvSpPr>
          <p:cNvPr id="46" name="Shape 44"/>
          <p:cNvSpPr/>
          <p:nvPr/>
        </p:nvSpPr>
        <p:spPr>
          <a:xfrm>
            <a:off x="1569842" y="2816352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69842" y="2816352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440" dirty="0"/>
          </a:p>
        </p:txBody>
      </p:sp>
      <p:sp>
        <p:nvSpPr>
          <p:cNvPr id="48" name="Shape 46"/>
          <p:cNvSpPr/>
          <p:nvPr/>
        </p:nvSpPr>
        <p:spPr>
          <a:xfrm>
            <a:off x="2481316" y="2816352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C4917B"/>
          </a:solidFill>
          <a:ln/>
        </p:spPr>
      </p:sp>
      <p:sp>
        <p:nvSpPr>
          <p:cNvPr id="49" name="Text 47"/>
          <p:cNvSpPr/>
          <p:nvPr/>
        </p:nvSpPr>
        <p:spPr>
          <a:xfrm>
            <a:off x="2481316" y="2816352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440" dirty="0"/>
          </a:p>
        </p:txBody>
      </p:sp>
      <p:sp>
        <p:nvSpPr>
          <p:cNvPr id="50" name="Shape 48"/>
          <p:cNvSpPr/>
          <p:nvPr/>
        </p:nvSpPr>
        <p:spPr>
          <a:xfrm>
            <a:off x="658368" y="2980944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2980944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440" dirty="0"/>
          </a:p>
        </p:txBody>
      </p:sp>
      <p:sp>
        <p:nvSpPr>
          <p:cNvPr id="52" name="Shape 50"/>
          <p:cNvSpPr/>
          <p:nvPr/>
        </p:nvSpPr>
        <p:spPr>
          <a:xfrm>
            <a:off x="1569842" y="2980944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69842" y="2980944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440" dirty="0"/>
          </a:p>
        </p:txBody>
      </p:sp>
      <p:sp>
        <p:nvSpPr>
          <p:cNvPr id="54" name="Shape 52"/>
          <p:cNvSpPr/>
          <p:nvPr/>
        </p:nvSpPr>
        <p:spPr>
          <a:xfrm>
            <a:off x="2481316" y="2980944"/>
            <a:ext cx="87489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81316" y="2980944"/>
            <a:ext cx="87489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440" dirty="0"/>
          </a:p>
        </p:txBody>
      </p:sp>
      <p:sp>
        <p:nvSpPr>
          <p:cNvPr id="56" name="Shape 54"/>
          <p:cNvSpPr/>
          <p:nvPr/>
        </p:nvSpPr>
        <p:spPr>
          <a:xfrm>
            <a:off x="3319638" y="2267712"/>
            <a:ext cx="2239914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74502" y="2286000"/>
            <a:ext cx="213018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420" dirty="0"/>
          </a:p>
        </p:txBody>
      </p:sp>
      <p:sp>
        <p:nvSpPr>
          <p:cNvPr id="58" name="Text 56"/>
          <p:cNvSpPr/>
          <p:nvPr/>
        </p:nvSpPr>
        <p:spPr>
          <a:xfrm>
            <a:off x="3374502" y="2395728"/>
            <a:ext cx="213018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Mariana Souza</a:t>
            </a:r>
            <a:endParaRPr lang="en-US" sz="420" dirty="0"/>
          </a:p>
        </p:txBody>
      </p:sp>
      <p:sp>
        <p:nvSpPr>
          <p:cNvPr id="59" name="Text 57"/>
          <p:cNvSpPr/>
          <p:nvPr/>
        </p:nvSpPr>
        <p:spPr>
          <a:xfrm>
            <a:off x="3374502" y="2505456"/>
            <a:ext cx="213018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 · 11:00</a:t>
            </a:r>
            <a:endParaRPr lang="en-US" sz="420" dirty="0"/>
          </a:p>
        </p:txBody>
      </p:sp>
      <p:sp>
        <p:nvSpPr>
          <p:cNvPr id="60" name="Text 58"/>
          <p:cNvSpPr/>
          <p:nvPr/>
        </p:nvSpPr>
        <p:spPr>
          <a:xfrm>
            <a:off x="3374502" y="2615184"/>
            <a:ext cx="213018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R$ 120,00</a:t>
            </a:r>
            <a:endParaRPr lang="en-US" sz="420" dirty="0"/>
          </a:p>
        </p:txBody>
      </p:sp>
      <p:sp>
        <p:nvSpPr>
          <p:cNvPr id="61" name="Shape 59"/>
          <p:cNvSpPr/>
          <p:nvPr/>
        </p:nvSpPr>
        <p:spPr>
          <a:xfrm>
            <a:off x="3319638" y="3054096"/>
            <a:ext cx="2239914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62" name="Text 60"/>
          <p:cNvSpPr/>
          <p:nvPr/>
        </p:nvSpPr>
        <p:spPr>
          <a:xfrm>
            <a:off x="3319638" y="3054096"/>
            <a:ext cx="223991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Agendamento</a:t>
            </a:r>
            <a:endParaRPr lang="en-US" sz="460" dirty="0"/>
          </a:p>
        </p:txBody>
      </p:sp>
      <p:sp>
        <p:nvSpPr>
          <p:cNvPr id="63" name="Text 61"/>
          <p:cNvSpPr/>
          <p:nvPr/>
        </p:nvSpPr>
        <p:spPr>
          <a:xfrm>
            <a:off x="658368" y="3127248"/>
            <a:ext cx="4901184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novos são cadastrados na hora, direto no fluxo de agendamento.</a:t>
            </a:r>
            <a:endParaRPr lang="en-US" sz="420" dirty="0"/>
          </a:p>
        </p:txBody>
      </p:sp>
      <p:sp>
        <p:nvSpPr>
          <p:cNvPr id="64" name="Shape 62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5" name="Text 63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apresentados apenas dentro do funcionamento da clínica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7" name="Text 65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novo é cadastrado na hora, sem sair do fluxo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9" name="Text 67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com serviço, data, horário e valor antes de confirmar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1" name="Text 69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pendente é sinalizado ao agendar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Consulta: encontre qualquer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agendamento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 agenda por data, filtre por status e busque pelo nome do cliente.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https://sua-clinica.com.br/agendamentos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1947672"/>
            <a:ext cx="4901184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480" dirty="0"/>
          </a:p>
        </p:txBody>
      </p:sp>
      <p:sp>
        <p:nvSpPr>
          <p:cNvPr id="30" name="Shape 28"/>
          <p:cNvSpPr/>
          <p:nvPr/>
        </p:nvSpPr>
        <p:spPr>
          <a:xfrm>
            <a:off x="1307592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C4917B"/>
          </a:solidFill>
          <a:ln/>
        </p:spPr>
      </p:sp>
      <p:sp>
        <p:nvSpPr>
          <p:cNvPr id="31" name="Text 29"/>
          <p:cNvSpPr/>
          <p:nvPr/>
        </p:nvSpPr>
        <p:spPr>
          <a:xfrm>
            <a:off x="1307592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480" dirty="0"/>
          </a:p>
        </p:txBody>
      </p:sp>
      <p:sp>
        <p:nvSpPr>
          <p:cNvPr id="32" name="Shape 30"/>
          <p:cNvSpPr/>
          <p:nvPr/>
        </p:nvSpPr>
        <p:spPr>
          <a:xfrm>
            <a:off x="1920240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480" dirty="0"/>
          </a:p>
        </p:txBody>
      </p:sp>
      <p:sp>
        <p:nvSpPr>
          <p:cNvPr id="34" name="Shape 32"/>
          <p:cNvSpPr/>
          <p:nvPr/>
        </p:nvSpPr>
        <p:spPr>
          <a:xfrm>
            <a:off x="2532888" y="1975104"/>
            <a:ext cx="566928" cy="73152"/>
          </a:xfrm>
          <a:prstGeom prst="roundRect">
            <a:avLst>
              <a:gd name="adj" fmla="val 375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1975104"/>
            <a:ext cx="566928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</a:t>
            </a:r>
            <a:endParaRPr lang="en-US" sz="480" dirty="0"/>
          </a:p>
        </p:txBody>
      </p:sp>
      <p:sp>
        <p:nvSpPr>
          <p:cNvPr id="36" name="Shape 34"/>
          <p:cNvSpPr/>
          <p:nvPr/>
        </p:nvSpPr>
        <p:spPr>
          <a:xfrm>
            <a:off x="658368" y="2121408"/>
            <a:ext cx="56692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212140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12/03/2026</a:t>
            </a:r>
            <a:endParaRPr lang="en-US" sz="520" dirty="0"/>
          </a:p>
        </p:txBody>
      </p:sp>
      <p:sp>
        <p:nvSpPr>
          <p:cNvPr id="38" name="Shape 36"/>
          <p:cNvSpPr/>
          <p:nvPr/>
        </p:nvSpPr>
        <p:spPr>
          <a:xfrm>
            <a:off x="1316736" y="2121408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39" name="Text 37"/>
          <p:cNvSpPr/>
          <p:nvPr/>
        </p:nvSpPr>
        <p:spPr>
          <a:xfrm>
            <a:off x="1316736" y="2121408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420" dirty="0"/>
          </a:p>
        </p:txBody>
      </p:sp>
      <p:sp>
        <p:nvSpPr>
          <p:cNvPr id="40" name="Shape 38"/>
          <p:cNvSpPr/>
          <p:nvPr/>
        </p:nvSpPr>
        <p:spPr>
          <a:xfrm>
            <a:off x="1883664" y="2121408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83664" y="2121408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420" dirty="0"/>
          </a:p>
        </p:txBody>
      </p:sp>
      <p:sp>
        <p:nvSpPr>
          <p:cNvPr id="42" name="Shape 40"/>
          <p:cNvSpPr/>
          <p:nvPr/>
        </p:nvSpPr>
        <p:spPr>
          <a:xfrm>
            <a:off x="2450592" y="2121408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2121408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420" dirty="0"/>
          </a:p>
        </p:txBody>
      </p:sp>
      <p:sp>
        <p:nvSpPr>
          <p:cNvPr id="44" name="Shape 42"/>
          <p:cNvSpPr/>
          <p:nvPr/>
        </p:nvSpPr>
        <p:spPr>
          <a:xfrm>
            <a:off x="3017520" y="2121408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2121408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420" dirty="0"/>
          </a:p>
        </p:txBody>
      </p:sp>
      <p:sp>
        <p:nvSpPr>
          <p:cNvPr id="46" name="Shape 44"/>
          <p:cNvSpPr/>
          <p:nvPr/>
        </p:nvSpPr>
        <p:spPr>
          <a:xfrm>
            <a:off x="3584448" y="2121408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84448" y="2121408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420" dirty="0"/>
          </a:p>
        </p:txBody>
      </p:sp>
      <p:sp>
        <p:nvSpPr>
          <p:cNvPr id="48" name="Shape 46"/>
          <p:cNvSpPr/>
          <p:nvPr/>
        </p:nvSpPr>
        <p:spPr>
          <a:xfrm>
            <a:off x="4626864" y="2121408"/>
            <a:ext cx="91440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2121408"/>
            <a:ext cx="8046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cliente...</a:t>
            </a:r>
            <a:endParaRPr lang="en-US" sz="520" dirty="0"/>
          </a:p>
        </p:txBody>
      </p:sp>
      <p:sp>
        <p:nvSpPr>
          <p:cNvPr id="50" name="Shape 48"/>
          <p:cNvSpPr/>
          <p:nvPr/>
        </p:nvSpPr>
        <p:spPr>
          <a:xfrm>
            <a:off x="658368" y="2322576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" y="232257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12/03</a:t>
            </a:r>
            <a:endParaRPr lang="en-US" sz="460" dirty="0"/>
          </a:p>
        </p:txBody>
      </p:sp>
      <p:sp>
        <p:nvSpPr>
          <p:cNvPr id="52" name="Text 50"/>
          <p:cNvSpPr/>
          <p:nvPr/>
        </p:nvSpPr>
        <p:spPr>
          <a:xfrm>
            <a:off x="1005840" y="232257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</a:t>
            </a:r>
            <a:endParaRPr lang="en-US" sz="460" dirty="0"/>
          </a:p>
        </p:txBody>
      </p:sp>
      <p:sp>
        <p:nvSpPr>
          <p:cNvPr id="53" name="Text 51"/>
          <p:cNvSpPr/>
          <p:nvPr/>
        </p:nvSpPr>
        <p:spPr>
          <a:xfrm>
            <a:off x="1591056" y="232257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Lima</a:t>
            </a:r>
            <a:endParaRPr lang="en-US" sz="420" dirty="0"/>
          </a:p>
        </p:txBody>
      </p:sp>
      <p:sp>
        <p:nvSpPr>
          <p:cNvPr id="54" name="Shape 52"/>
          <p:cNvSpPr/>
          <p:nvPr/>
        </p:nvSpPr>
        <p:spPr>
          <a:xfrm>
            <a:off x="4901184" y="233172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7F2EB"/>
          </a:solidFill>
          <a:ln/>
        </p:spPr>
      </p:sp>
      <p:sp>
        <p:nvSpPr>
          <p:cNvPr id="55" name="Text 53"/>
          <p:cNvSpPr/>
          <p:nvPr/>
        </p:nvSpPr>
        <p:spPr>
          <a:xfrm>
            <a:off x="4901184" y="233172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E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440" dirty="0"/>
          </a:p>
        </p:txBody>
      </p:sp>
      <p:sp>
        <p:nvSpPr>
          <p:cNvPr id="56" name="Shape 54"/>
          <p:cNvSpPr/>
          <p:nvPr/>
        </p:nvSpPr>
        <p:spPr>
          <a:xfrm>
            <a:off x="5376672" y="2336292"/>
            <a:ext cx="182880" cy="1188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57" name="Text 55"/>
          <p:cNvSpPr/>
          <p:nvPr/>
        </p:nvSpPr>
        <p:spPr>
          <a:xfrm>
            <a:off x="5376672" y="2336292"/>
            <a:ext cx="18288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520" dirty="0"/>
          </a:p>
        </p:txBody>
      </p:sp>
      <p:sp>
        <p:nvSpPr>
          <p:cNvPr id="58" name="Shape 56"/>
          <p:cNvSpPr/>
          <p:nvPr/>
        </p:nvSpPr>
        <p:spPr>
          <a:xfrm>
            <a:off x="658368" y="2496312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" y="249631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12/03</a:t>
            </a:r>
            <a:endParaRPr lang="en-US" sz="460" dirty="0"/>
          </a:p>
        </p:txBody>
      </p:sp>
      <p:sp>
        <p:nvSpPr>
          <p:cNvPr id="60" name="Text 58"/>
          <p:cNvSpPr/>
          <p:nvPr/>
        </p:nvSpPr>
        <p:spPr>
          <a:xfrm>
            <a:off x="1005840" y="24963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460" dirty="0"/>
          </a:p>
        </p:txBody>
      </p:sp>
      <p:sp>
        <p:nvSpPr>
          <p:cNvPr id="61" name="Text 59"/>
          <p:cNvSpPr/>
          <p:nvPr/>
        </p:nvSpPr>
        <p:spPr>
          <a:xfrm>
            <a:off x="1591056" y="249631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Rocha</a:t>
            </a:r>
            <a:endParaRPr lang="en-US" sz="420" dirty="0"/>
          </a:p>
        </p:txBody>
      </p:sp>
      <p:sp>
        <p:nvSpPr>
          <p:cNvPr id="62" name="Shape 60"/>
          <p:cNvSpPr/>
          <p:nvPr/>
        </p:nvSpPr>
        <p:spPr>
          <a:xfrm>
            <a:off x="4901184" y="2505456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/>
        </p:spPr>
      </p:sp>
      <p:sp>
        <p:nvSpPr>
          <p:cNvPr id="63" name="Text 61"/>
          <p:cNvSpPr/>
          <p:nvPr/>
        </p:nvSpPr>
        <p:spPr>
          <a:xfrm>
            <a:off x="4901184" y="250545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440" dirty="0"/>
          </a:p>
        </p:txBody>
      </p:sp>
      <p:sp>
        <p:nvSpPr>
          <p:cNvPr id="64" name="Shape 62"/>
          <p:cNvSpPr/>
          <p:nvPr/>
        </p:nvSpPr>
        <p:spPr>
          <a:xfrm>
            <a:off x="5376672" y="2510028"/>
            <a:ext cx="182880" cy="1188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65" name="Text 63"/>
          <p:cNvSpPr/>
          <p:nvPr/>
        </p:nvSpPr>
        <p:spPr>
          <a:xfrm>
            <a:off x="5376672" y="2510028"/>
            <a:ext cx="18288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520" dirty="0"/>
          </a:p>
        </p:txBody>
      </p:sp>
      <p:sp>
        <p:nvSpPr>
          <p:cNvPr id="66" name="Shape 64"/>
          <p:cNvSpPr/>
          <p:nvPr/>
        </p:nvSpPr>
        <p:spPr>
          <a:xfrm>
            <a:off x="658368" y="2670048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" y="267004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11/03</a:t>
            </a:r>
            <a:endParaRPr lang="en-US" sz="460" dirty="0"/>
          </a:p>
        </p:txBody>
      </p:sp>
      <p:sp>
        <p:nvSpPr>
          <p:cNvPr id="68" name="Text 66"/>
          <p:cNvSpPr/>
          <p:nvPr/>
        </p:nvSpPr>
        <p:spPr>
          <a:xfrm>
            <a:off x="1005840" y="26700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Cílios</a:t>
            </a:r>
            <a:endParaRPr lang="en-US" sz="460" dirty="0"/>
          </a:p>
        </p:txBody>
      </p:sp>
      <p:sp>
        <p:nvSpPr>
          <p:cNvPr id="69" name="Text 67"/>
          <p:cNvSpPr/>
          <p:nvPr/>
        </p:nvSpPr>
        <p:spPr>
          <a:xfrm>
            <a:off x="1591056" y="26700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Beatriz</a:t>
            </a:r>
            <a:endParaRPr lang="en-US" sz="420" dirty="0"/>
          </a:p>
        </p:txBody>
      </p:sp>
      <p:sp>
        <p:nvSpPr>
          <p:cNvPr id="70" name="Shape 68"/>
          <p:cNvSpPr/>
          <p:nvPr/>
        </p:nvSpPr>
        <p:spPr>
          <a:xfrm>
            <a:off x="4901184" y="2679192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8F0F7"/>
          </a:solidFill>
          <a:ln/>
        </p:spPr>
      </p:sp>
      <p:sp>
        <p:nvSpPr>
          <p:cNvPr id="71" name="Text 69"/>
          <p:cNvSpPr/>
          <p:nvPr/>
        </p:nvSpPr>
        <p:spPr>
          <a:xfrm>
            <a:off x="4901184" y="267919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440" dirty="0"/>
          </a:p>
        </p:txBody>
      </p:sp>
      <p:sp>
        <p:nvSpPr>
          <p:cNvPr id="72" name="Shape 70"/>
          <p:cNvSpPr/>
          <p:nvPr/>
        </p:nvSpPr>
        <p:spPr>
          <a:xfrm>
            <a:off x="5376672" y="2683764"/>
            <a:ext cx="182880" cy="1188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73" name="Text 71"/>
          <p:cNvSpPr/>
          <p:nvPr/>
        </p:nvSpPr>
        <p:spPr>
          <a:xfrm>
            <a:off x="5376672" y="2683764"/>
            <a:ext cx="18288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520" dirty="0"/>
          </a:p>
        </p:txBody>
      </p:sp>
      <p:sp>
        <p:nvSpPr>
          <p:cNvPr id="74" name="Shape 72"/>
          <p:cNvSpPr/>
          <p:nvPr/>
        </p:nvSpPr>
        <p:spPr>
          <a:xfrm>
            <a:off x="658368" y="2843784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4944" y="284378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10/03</a:t>
            </a:r>
            <a:endParaRPr lang="en-US" sz="460" dirty="0"/>
          </a:p>
        </p:txBody>
      </p:sp>
      <p:sp>
        <p:nvSpPr>
          <p:cNvPr id="76" name="Text 74"/>
          <p:cNvSpPr/>
          <p:nvPr/>
        </p:nvSpPr>
        <p:spPr>
          <a:xfrm>
            <a:off x="1005840" y="284378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460" dirty="0"/>
          </a:p>
        </p:txBody>
      </p:sp>
      <p:sp>
        <p:nvSpPr>
          <p:cNvPr id="77" name="Text 75"/>
          <p:cNvSpPr/>
          <p:nvPr/>
        </p:nvSpPr>
        <p:spPr>
          <a:xfrm>
            <a:off x="1591056" y="284378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</a:t>
            </a:r>
            <a:endParaRPr lang="en-US" sz="420" dirty="0"/>
          </a:p>
        </p:txBody>
      </p:sp>
      <p:sp>
        <p:nvSpPr>
          <p:cNvPr id="78" name="Shape 76"/>
          <p:cNvSpPr/>
          <p:nvPr/>
        </p:nvSpPr>
        <p:spPr>
          <a:xfrm>
            <a:off x="4901184" y="28529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F9E9E6"/>
          </a:solidFill>
          <a:ln/>
        </p:spPr>
      </p:sp>
      <p:sp>
        <p:nvSpPr>
          <p:cNvPr id="79" name="Text 77"/>
          <p:cNvSpPr/>
          <p:nvPr/>
        </p:nvSpPr>
        <p:spPr>
          <a:xfrm>
            <a:off x="4901184" y="285292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B4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440" dirty="0"/>
          </a:p>
        </p:txBody>
      </p:sp>
      <p:sp>
        <p:nvSpPr>
          <p:cNvPr id="80" name="Shape 78"/>
          <p:cNvSpPr/>
          <p:nvPr/>
        </p:nvSpPr>
        <p:spPr>
          <a:xfrm>
            <a:off x="5376672" y="2857500"/>
            <a:ext cx="182880" cy="118872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81" name="Text 79"/>
          <p:cNvSpPr/>
          <p:nvPr/>
        </p:nvSpPr>
        <p:spPr>
          <a:xfrm>
            <a:off x="5376672" y="2857500"/>
            <a:ext cx="18288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520" dirty="0"/>
          </a:p>
        </p:txBody>
      </p:sp>
      <p:sp>
        <p:nvSpPr>
          <p:cNvPr id="82" name="Shape 80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3" name="Text 81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data e por status (pendente, confirmado, concluído, cancelado)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5" name="Text 83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 do cliente</a:t>
            </a:r>
            <a:endParaRPr lang="en-US" sz="880" dirty="0"/>
          </a:p>
        </p:txBody>
      </p:sp>
      <p:sp>
        <p:nvSpPr>
          <p:cNvPr id="86" name="Shape 84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7" name="Text 85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rápidas: confirmar, cancelar e visualizar</a:t>
            </a:r>
            <a:endParaRPr lang="en-US" sz="880" dirty="0"/>
          </a:p>
        </p:txBody>
      </p:sp>
      <p:sp>
        <p:nvSpPr>
          <p:cNvPr id="88" name="Shape 86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9" name="Text 87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ficha de anamnese de cada agendamento</a:t>
            </a:r>
            <a:endParaRPr lang="en-US" sz="880" dirty="0"/>
          </a:p>
        </p:txBody>
      </p:sp>
      <p:sp>
        <p:nvSpPr>
          <p:cNvPr id="90" name="Shape 88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Histórico: tudo o que o cliente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fez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área pessoal, o cliente acompanha seus procedimentos, datas e status — de forma organizada e profissional.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https://sua-clinica.com.br/agendamentos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2" name="Shape 20"/>
          <p:cNvSpPr/>
          <p:nvPr/>
        </p:nvSpPr>
        <p:spPr>
          <a:xfrm>
            <a:off x="3493008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4" name="Shape 22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47672"/>
            <a:ext cx="146304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ÁREA PESSOAL</a:t>
            </a:r>
            <a:endParaRPr lang="en-US" sz="440" dirty="0"/>
          </a:p>
        </p:txBody>
      </p:sp>
      <p:sp>
        <p:nvSpPr>
          <p:cNvPr id="26" name="Text 24"/>
          <p:cNvSpPr/>
          <p:nvPr/>
        </p:nvSpPr>
        <p:spPr>
          <a:xfrm>
            <a:off x="658368" y="20482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Mariana!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8368" y="2249424"/>
            <a:ext cx="219456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Agendamentos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658368" y="2414016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2414016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05/02/2026</a:t>
            </a:r>
            <a:endParaRPr lang="en-US" sz="460" dirty="0"/>
          </a:p>
        </p:txBody>
      </p:sp>
      <p:sp>
        <p:nvSpPr>
          <p:cNvPr id="30" name="Text 28"/>
          <p:cNvSpPr/>
          <p:nvPr/>
        </p:nvSpPr>
        <p:spPr>
          <a:xfrm>
            <a:off x="1335024" y="241401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460" dirty="0"/>
          </a:p>
        </p:txBody>
      </p:sp>
      <p:sp>
        <p:nvSpPr>
          <p:cNvPr id="31" name="Shape 29"/>
          <p:cNvSpPr/>
          <p:nvPr/>
        </p:nvSpPr>
        <p:spPr>
          <a:xfrm>
            <a:off x="4992624" y="242316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8F0F7"/>
          </a:solidFill>
          <a:ln/>
        </p:spPr>
      </p:sp>
      <p:sp>
        <p:nvSpPr>
          <p:cNvPr id="32" name="Text 30"/>
          <p:cNvSpPr/>
          <p:nvPr/>
        </p:nvSpPr>
        <p:spPr>
          <a:xfrm>
            <a:off x="4992624" y="242316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440" dirty="0"/>
          </a:p>
        </p:txBody>
      </p:sp>
      <p:sp>
        <p:nvSpPr>
          <p:cNvPr id="33" name="Shape 31"/>
          <p:cNvSpPr/>
          <p:nvPr/>
        </p:nvSpPr>
        <p:spPr>
          <a:xfrm>
            <a:off x="658368" y="2587752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2587752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22/01/2026</a:t>
            </a:r>
            <a:endParaRPr lang="en-US" sz="460" dirty="0"/>
          </a:p>
        </p:txBody>
      </p:sp>
      <p:sp>
        <p:nvSpPr>
          <p:cNvPr id="35" name="Text 33"/>
          <p:cNvSpPr/>
          <p:nvPr/>
        </p:nvSpPr>
        <p:spPr>
          <a:xfrm>
            <a:off x="1335024" y="2587752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Hidratação</a:t>
            </a:r>
            <a:endParaRPr lang="en-US" sz="460" dirty="0"/>
          </a:p>
        </p:txBody>
      </p:sp>
      <p:sp>
        <p:nvSpPr>
          <p:cNvPr id="36" name="Shape 34"/>
          <p:cNvSpPr/>
          <p:nvPr/>
        </p:nvSpPr>
        <p:spPr>
          <a:xfrm>
            <a:off x="4992624" y="2596896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E8F0F7"/>
          </a:solidFill>
          <a:ln/>
        </p:spPr>
      </p:sp>
      <p:sp>
        <p:nvSpPr>
          <p:cNvPr id="37" name="Text 35"/>
          <p:cNvSpPr/>
          <p:nvPr/>
        </p:nvSpPr>
        <p:spPr>
          <a:xfrm>
            <a:off x="4992624" y="259689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440" dirty="0"/>
          </a:p>
        </p:txBody>
      </p:sp>
      <p:sp>
        <p:nvSpPr>
          <p:cNvPr id="38" name="Shape 36"/>
          <p:cNvSpPr/>
          <p:nvPr/>
        </p:nvSpPr>
        <p:spPr>
          <a:xfrm>
            <a:off x="658368" y="2761488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2761488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10/01/2026</a:t>
            </a:r>
            <a:endParaRPr lang="en-US" sz="460" dirty="0"/>
          </a:p>
        </p:txBody>
      </p:sp>
      <p:sp>
        <p:nvSpPr>
          <p:cNvPr id="40" name="Text 38"/>
          <p:cNvSpPr/>
          <p:nvPr/>
        </p:nvSpPr>
        <p:spPr>
          <a:xfrm>
            <a:off x="1335024" y="2761488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460" dirty="0"/>
          </a:p>
        </p:txBody>
      </p:sp>
      <p:sp>
        <p:nvSpPr>
          <p:cNvPr id="41" name="Shape 39"/>
          <p:cNvSpPr/>
          <p:nvPr/>
        </p:nvSpPr>
        <p:spPr>
          <a:xfrm>
            <a:off x="4992624" y="2770632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F9E9E6"/>
          </a:solidFill>
          <a:ln/>
        </p:spPr>
      </p:sp>
      <p:sp>
        <p:nvSpPr>
          <p:cNvPr id="42" name="Text 40"/>
          <p:cNvSpPr/>
          <p:nvPr/>
        </p:nvSpPr>
        <p:spPr>
          <a:xfrm>
            <a:off x="4992624" y="277063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B4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440" dirty="0"/>
          </a:p>
        </p:txBody>
      </p:sp>
      <p:sp>
        <p:nvSpPr>
          <p:cNvPr id="43" name="Shape 41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4" name="Text 42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de agendamentos do cliente, com status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6" name="Text 44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detalhe de cada procedimento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8" name="Text 46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de acompanhamento que fideliza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0" name="Text 48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próprio: o cliente não depende da recepção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474720"/>
            <a:ext cx="4023360" cy="402336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DIGITAL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Ficha de anamnese com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por procedimento, preenchidos pelo cliente e assinados na tela — gerando PDF com data e hora.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https://sua-clinica.com.br/agendamentos/novo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47672"/>
            <a:ext cx="146304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ANAMNESE</a:t>
            </a:r>
            <a:endParaRPr lang="en-US" sz="440" dirty="0"/>
          </a:p>
        </p:txBody>
      </p:sp>
      <p:sp>
        <p:nvSpPr>
          <p:cNvPr id="28" name="Text 26"/>
          <p:cNvSpPr/>
          <p:nvPr/>
        </p:nvSpPr>
        <p:spPr>
          <a:xfrm>
            <a:off x="658368" y="2084832"/>
            <a:ext cx="82296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</a:t>
            </a:r>
            <a:endParaRPr lang="en-US" sz="400" dirty="0"/>
          </a:p>
        </p:txBody>
      </p:sp>
      <p:sp>
        <p:nvSpPr>
          <p:cNvPr id="29" name="Shape 27"/>
          <p:cNvSpPr/>
          <p:nvPr/>
        </p:nvSpPr>
        <p:spPr>
          <a:xfrm>
            <a:off x="658368" y="2157984"/>
            <a:ext cx="490118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157984"/>
            <a:ext cx="47914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Souza</a:t>
            </a:r>
            <a:endParaRPr lang="en-US" sz="520" dirty="0"/>
          </a:p>
        </p:txBody>
      </p:sp>
      <p:sp>
        <p:nvSpPr>
          <p:cNvPr id="31" name="Text 29"/>
          <p:cNvSpPr/>
          <p:nvPr/>
        </p:nvSpPr>
        <p:spPr>
          <a:xfrm>
            <a:off x="658368" y="2267712"/>
            <a:ext cx="82296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nascimento</a:t>
            </a:r>
            <a:endParaRPr lang="en-US" sz="400" dirty="0"/>
          </a:p>
        </p:txBody>
      </p:sp>
      <p:sp>
        <p:nvSpPr>
          <p:cNvPr id="32" name="Shape 30"/>
          <p:cNvSpPr/>
          <p:nvPr/>
        </p:nvSpPr>
        <p:spPr>
          <a:xfrm>
            <a:off x="658368" y="2340864"/>
            <a:ext cx="490118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2340864"/>
            <a:ext cx="47914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12/08/1990</a:t>
            </a:r>
            <a:endParaRPr lang="en-US" sz="520" dirty="0"/>
          </a:p>
        </p:txBody>
      </p:sp>
      <p:sp>
        <p:nvSpPr>
          <p:cNvPr id="34" name="Text 32"/>
          <p:cNvSpPr/>
          <p:nvPr/>
        </p:nvSpPr>
        <p:spPr>
          <a:xfrm>
            <a:off x="658368" y="2450592"/>
            <a:ext cx="82296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Alergias</a:t>
            </a:r>
            <a:endParaRPr lang="en-US" sz="400" dirty="0"/>
          </a:p>
        </p:txBody>
      </p:sp>
      <p:sp>
        <p:nvSpPr>
          <p:cNvPr id="35" name="Shape 33"/>
          <p:cNvSpPr/>
          <p:nvPr/>
        </p:nvSpPr>
        <p:spPr>
          <a:xfrm>
            <a:off x="658368" y="2523744"/>
            <a:ext cx="490118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688336"/>
            <a:ext cx="128016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grávida ou amamentando?</a:t>
            </a:r>
            <a:endParaRPr lang="en-US" sz="420" dirty="0"/>
          </a:p>
        </p:txBody>
      </p:sp>
      <p:sp>
        <p:nvSpPr>
          <p:cNvPr id="37" name="Shape 35"/>
          <p:cNvSpPr/>
          <p:nvPr/>
        </p:nvSpPr>
        <p:spPr>
          <a:xfrm>
            <a:off x="658368" y="2779776"/>
            <a:ext cx="457200" cy="109728"/>
          </a:xfrm>
          <a:prstGeom prst="roundRect">
            <a:avLst>
              <a:gd name="adj" fmla="val 16667"/>
            </a:avLst>
          </a:prstGeom>
          <a:solidFill>
            <a:srgbClr val="F5E6D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2779776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400" dirty="0"/>
          </a:p>
        </p:txBody>
      </p:sp>
      <p:sp>
        <p:nvSpPr>
          <p:cNvPr id="39" name="Shape 37"/>
          <p:cNvSpPr/>
          <p:nvPr/>
        </p:nvSpPr>
        <p:spPr>
          <a:xfrm>
            <a:off x="1170432" y="2779776"/>
            <a:ext cx="457200" cy="109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2779776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400" dirty="0"/>
          </a:p>
        </p:txBody>
      </p:sp>
      <p:sp>
        <p:nvSpPr>
          <p:cNvPr id="41" name="Text 39"/>
          <p:cNvSpPr/>
          <p:nvPr/>
        </p:nvSpPr>
        <p:spPr>
          <a:xfrm>
            <a:off x="658368" y="2962656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</a:t>
            </a:r>
            <a:endParaRPr lang="en-US" sz="420" dirty="0"/>
          </a:p>
        </p:txBody>
      </p:sp>
      <p:sp>
        <p:nvSpPr>
          <p:cNvPr id="42" name="Shape 40"/>
          <p:cNvSpPr/>
          <p:nvPr/>
        </p:nvSpPr>
        <p:spPr>
          <a:xfrm>
            <a:off x="658368" y="3054096"/>
            <a:ext cx="2776118" cy="274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054096"/>
            <a:ext cx="277611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aqui</a:t>
            </a:r>
            <a:endParaRPr lang="en-US" sz="440" dirty="0"/>
          </a:p>
        </p:txBody>
      </p:sp>
      <p:sp>
        <p:nvSpPr>
          <p:cNvPr id="44" name="Shape 42"/>
          <p:cNvSpPr/>
          <p:nvPr/>
        </p:nvSpPr>
        <p:spPr>
          <a:xfrm>
            <a:off x="658368" y="3364992"/>
            <a:ext cx="713232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" y="3364992"/>
            <a:ext cx="713232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e aceitar termo</a:t>
            </a:r>
            <a:endParaRPr lang="en-US" sz="420" dirty="0"/>
          </a:p>
        </p:txBody>
      </p:sp>
      <p:sp>
        <p:nvSpPr>
          <p:cNvPr id="46" name="Text 44"/>
          <p:cNvSpPr/>
          <p:nvPr/>
        </p:nvSpPr>
        <p:spPr>
          <a:xfrm>
            <a:off x="1453896" y="3364992"/>
            <a:ext cx="4087368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3E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assinada vira um PDF no histórico do cliente.</a:t>
            </a:r>
            <a:endParaRPr lang="en-US" sz="420" dirty="0"/>
          </a:p>
        </p:txBody>
      </p:sp>
      <p:sp>
        <p:nvSpPr>
          <p:cNvPr id="47" name="Shape 45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48" name="Text 46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personalizáveis, vinculados a cada procedimento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0" name="Text 48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prévio: na 1ª vez ou em todo atendimento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2" name="Text 50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na tela + termo de consentimento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4" name="Text 52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assinada vira PDF no histórico do cliente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Clientes: cadastro e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histórico completo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base de clientes em um lugar, com busca, edição e histórico de procedimentos e formulários.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https://sua-clinica.com.br/clientes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47672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40" dirty="0"/>
          </a:p>
        </p:txBody>
      </p:sp>
      <p:sp>
        <p:nvSpPr>
          <p:cNvPr id="28" name="Shape 26"/>
          <p:cNvSpPr/>
          <p:nvPr/>
        </p:nvSpPr>
        <p:spPr>
          <a:xfrm>
            <a:off x="658368" y="2066544"/>
            <a:ext cx="100584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066544"/>
            <a:ext cx="89611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Buscar...</a:t>
            </a:r>
            <a:endParaRPr lang="en-US" sz="520" dirty="0"/>
          </a:p>
        </p:txBody>
      </p:sp>
      <p:sp>
        <p:nvSpPr>
          <p:cNvPr id="30" name="Shape 28"/>
          <p:cNvSpPr/>
          <p:nvPr/>
        </p:nvSpPr>
        <p:spPr>
          <a:xfrm>
            <a:off x="5010912" y="2066544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06654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Cliente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694944" y="2267712"/>
            <a:ext cx="6400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420" dirty="0"/>
          </a:p>
        </p:txBody>
      </p:sp>
      <p:sp>
        <p:nvSpPr>
          <p:cNvPr id="33" name="Text 31"/>
          <p:cNvSpPr/>
          <p:nvPr/>
        </p:nvSpPr>
        <p:spPr>
          <a:xfrm>
            <a:off x="1499616" y="2267712"/>
            <a:ext cx="6400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420" dirty="0"/>
          </a:p>
        </p:txBody>
      </p:sp>
      <p:sp>
        <p:nvSpPr>
          <p:cNvPr id="34" name="Text 32"/>
          <p:cNvSpPr/>
          <p:nvPr/>
        </p:nvSpPr>
        <p:spPr>
          <a:xfrm>
            <a:off x="2139696" y="2267712"/>
            <a:ext cx="6400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20" dirty="0"/>
          </a:p>
        </p:txBody>
      </p:sp>
      <p:sp>
        <p:nvSpPr>
          <p:cNvPr id="35" name="Shape 33"/>
          <p:cNvSpPr/>
          <p:nvPr/>
        </p:nvSpPr>
        <p:spPr>
          <a:xfrm>
            <a:off x="658368" y="2377440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2377440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Souza</a:t>
            </a:r>
            <a:endParaRPr lang="en-US" sz="460" dirty="0"/>
          </a:p>
        </p:txBody>
      </p:sp>
      <p:sp>
        <p:nvSpPr>
          <p:cNvPr id="37" name="Text 35"/>
          <p:cNvSpPr/>
          <p:nvPr/>
        </p:nvSpPr>
        <p:spPr>
          <a:xfrm>
            <a:off x="1499616" y="2377440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99999-0001</a:t>
            </a:r>
            <a:endParaRPr lang="en-US" sz="420" dirty="0"/>
          </a:p>
        </p:txBody>
      </p:sp>
      <p:sp>
        <p:nvSpPr>
          <p:cNvPr id="38" name="Text 36"/>
          <p:cNvSpPr/>
          <p:nvPr/>
        </p:nvSpPr>
        <p:spPr>
          <a:xfrm>
            <a:off x="2139696" y="237744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" dirty="0"/>
          </a:p>
        </p:txBody>
      </p:sp>
      <p:sp>
        <p:nvSpPr>
          <p:cNvPr id="39" name="Text 37"/>
          <p:cNvSpPr/>
          <p:nvPr/>
        </p:nvSpPr>
        <p:spPr>
          <a:xfrm>
            <a:off x="5029200" y="2377440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40" dirty="0"/>
          </a:p>
        </p:txBody>
      </p:sp>
      <p:sp>
        <p:nvSpPr>
          <p:cNvPr id="40" name="Text 38"/>
          <p:cNvSpPr/>
          <p:nvPr/>
        </p:nvSpPr>
        <p:spPr>
          <a:xfrm>
            <a:off x="5358384" y="2377440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40" dirty="0"/>
          </a:p>
        </p:txBody>
      </p:sp>
      <p:sp>
        <p:nvSpPr>
          <p:cNvPr id="41" name="Shape 39"/>
          <p:cNvSpPr/>
          <p:nvPr/>
        </p:nvSpPr>
        <p:spPr>
          <a:xfrm>
            <a:off x="658368" y="2551176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2551176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Lima</a:t>
            </a:r>
            <a:endParaRPr lang="en-US" sz="460" dirty="0"/>
          </a:p>
        </p:txBody>
      </p:sp>
      <p:sp>
        <p:nvSpPr>
          <p:cNvPr id="43" name="Text 41"/>
          <p:cNvSpPr/>
          <p:nvPr/>
        </p:nvSpPr>
        <p:spPr>
          <a:xfrm>
            <a:off x="1499616" y="255117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99999-0002</a:t>
            </a:r>
            <a:endParaRPr lang="en-US" sz="420" dirty="0"/>
          </a:p>
        </p:txBody>
      </p:sp>
      <p:sp>
        <p:nvSpPr>
          <p:cNvPr id="44" name="Text 42"/>
          <p:cNvSpPr/>
          <p:nvPr/>
        </p:nvSpPr>
        <p:spPr>
          <a:xfrm>
            <a:off x="2139696" y="255117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" dirty="0"/>
          </a:p>
        </p:txBody>
      </p:sp>
      <p:sp>
        <p:nvSpPr>
          <p:cNvPr id="45" name="Text 43"/>
          <p:cNvSpPr/>
          <p:nvPr/>
        </p:nvSpPr>
        <p:spPr>
          <a:xfrm>
            <a:off x="5029200" y="2551176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40" dirty="0"/>
          </a:p>
        </p:txBody>
      </p:sp>
      <p:sp>
        <p:nvSpPr>
          <p:cNvPr id="46" name="Text 44"/>
          <p:cNvSpPr/>
          <p:nvPr/>
        </p:nvSpPr>
        <p:spPr>
          <a:xfrm>
            <a:off x="5358384" y="2551176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40" dirty="0"/>
          </a:p>
        </p:txBody>
      </p:sp>
      <p:sp>
        <p:nvSpPr>
          <p:cNvPr id="47" name="Shape 45"/>
          <p:cNvSpPr/>
          <p:nvPr/>
        </p:nvSpPr>
        <p:spPr>
          <a:xfrm>
            <a:off x="658368" y="2724912"/>
            <a:ext cx="490118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2724912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6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Rocha</a:t>
            </a:r>
            <a:endParaRPr lang="en-US" sz="460" dirty="0"/>
          </a:p>
        </p:txBody>
      </p:sp>
      <p:sp>
        <p:nvSpPr>
          <p:cNvPr id="49" name="Text 47"/>
          <p:cNvSpPr/>
          <p:nvPr/>
        </p:nvSpPr>
        <p:spPr>
          <a:xfrm>
            <a:off x="1499616" y="272491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99999-0003</a:t>
            </a:r>
            <a:endParaRPr lang="en-US" sz="420" dirty="0"/>
          </a:p>
        </p:txBody>
      </p:sp>
      <p:sp>
        <p:nvSpPr>
          <p:cNvPr id="50" name="Text 48"/>
          <p:cNvSpPr/>
          <p:nvPr/>
        </p:nvSpPr>
        <p:spPr>
          <a:xfrm>
            <a:off x="2139696" y="272491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" dirty="0"/>
          </a:p>
        </p:txBody>
      </p:sp>
      <p:sp>
        <p:nvSpPr>
          <p:cNvPr id="51" name="Text 49"/>
          <p:cNvSpPr/>
          <p:nvPr/>
        </p:nvSpPr>
        <p:spPr>
          <a:xfrm>
            <a:off x="5029200" y="2724912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40" dirty="0"/>
          </a:p>
        </p:txBody>
      </p:sp>
      <p:sp>
        <p:nvSpPr>
          <p:cNvPr id="52" name="Text 50"/>
          <p:cNvSpPr/>
          <p:nvPr/>
        </p:nvSpPr>
        <p:spPr>
          <a:xfrm>
            <a:off x="5358384" y="2724912"/>
            <a:ext cx="237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40" dirty="0"/>
          </a:p>
        </p:txBody>
      </p:sp>
      <p:sp>
        <p:nvSpPr>
          <p:cNvPr id="53" name="Shape 51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4" name="Text 52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completo: CPF, nascimento, telefone e endereço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6" name="Text 54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rápida e edição dos dados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58" name="Text 56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agendamentos, procedimentos e anamneses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0" name="Text 58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da ficha de anamnese em PDF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Configurações: a clínica do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jeito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procedimentos, modelos de formulário, horário de funcionamento e aparência — tudo centralizado.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https://sua-clinica.com.br/admin/configuracoes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38528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DA CLÍNICA</a:t>
            </a:r>
            <a:endParaRPr lang="en-US" sz="440" dirty="0"/>
          </a:p>
        </p:txBody>
      </p:sp>
      <p:sp>
        <p:nvSpPr>
          <p:cNvPr id="28" name="Shape 26"/>
          <p:cNvSpPr/>
          <p:nvPr/>
        </p:nvSpPr>
        <p:spPr>
          <a:xfrm>
            <a:off x="658368" y="2066544"/>
            <a:ext cx="2776118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084832"/>
            <a:ext cx="128016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 e Procedimentos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2812694" y="2084832"/>
            <a:ext cx="475488" cy="11887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31" name="Text 29"/>
          <p:cNvSpPr/>
          <p:nvPr/>
        </p:nvSpPr>
        <p:spPr>
          <a:xfrm>
            <a:off x="2812694" y="2084832"/>
            <a:ext cx="475488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Serviço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713232" y="221284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</a:t>
            </a:r>
            <a:endParaRPr lang="en-US" sz="440" dirty="0"/>
          </a:p>
        </p:txBody>
      </p:sp>
      <p:sp>
        <p:nvSpPr>
          <p:cNvPr id="33" name="Text 31"/>
          <p:cNvSpPr/>
          <p:nvPr/>
        </p:nvSpPr>
        <p:spPr>
          <a:xfrm>
            <a:off x="1591056" y="22128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 · 60 min</a:t>
            </a:r>
            <a:endParaRPr lang="en-US" sz="390" dirty="0"/>
          </a:p>
        </p:txBody>
      </p:sp>
      <p:sp>
        <p:nvSpPr>
          <p:cNvPr id="34" name="Text 32"/>
          <p:cNvSpPr/>
          <p:nvPr/>
        </p:nvSpPr>
        <p:spPr>
          <a:xfrm>
            <a:off x="3105302" y="2212848"/>
            <a:ext cx="20116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713232" y="2340864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</a:t>
            </a:r>
            <a:endParaRPr lang="en-US" sz="440" dirty="0"/>
          </a:p>
        </p:txBody>
      </p:sp>
      <p:sp>
        <p:nvSpPr>
          <p:cNvPr id="36" name="Text 34"/>
          <p:cNvSpPr/>
          <p:nvPr/>
        </p:nvSpPr>
        <p:spPr>
          <a:xfrm>
            <a:off x="1591056" y="234086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R$ 480 · 90 min</a:t>
            </a:r>
            <a:endParaRPr lang="en-US" sz="390" dirty="0"/>
          </a:p>
        </p:txBody>
      </p:sp>
      <p:sp>
        <p:nvSpPr>
          <p:cNvPr id="37" name="Text 35"/>
          <p:cNvSpPr/>
          <p:nvPr/>
        </p:nvSpPr>
        <p:spPr>
          <a:xfrm>
            <a:off x="3105302" y="2340864"/>
            <a:ext cx="20116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713232" y="2468880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</a:t>
            </a:r>
            <a:endParaRPr lang="en-US" sz="440" dirty="0"/>
          </a:p>
        </p:txBody>
      </p:sp>
      <p:sp>
        <p:nvSpPr>
          <p:cNvPr id="39" name="Text 37"/>
          <p:cNvSpPr/>
          <p:nvPr/>
        </p:nvSpPr>
        <p:spPr>
          <a:xfrm>
            <a:off x="1591056" y="246888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9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R$ 140 · 45 min</a:t>
            </a:r>
            <a:endParaRPr lang="en-US" sz="390" dirty="0"/>
          </a:p>
        </p:txBody>
      </p:sp>
      <p:sp>
        <p:nvSpPr>
          <p:cNvPr id="40" name="Shape 38"/>
          <p:cNvSpPr/>
          <p:nvPr/>
        </p:nvSpPr>
        <p:spPr>
          <a:xfrm>
            <a:off x="2794406" y="2487168"/>
            <a:ext cx="292608" cy="9144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2794406" y="2487168"/>
            <a:ext cx="2926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</a:t>
            </a:r>
            <a:endParaRPr lang="en-US" sz="360" dirty="0"/>
          </a:p>
        </p:txBody>
      </p:sp>
      <p:sp>
        <p:nvSpPr>
          <p:cNvPr id="42" name="Text 40"/>
          <p:cNvSpPr/>
          <p:nvPr/>
        </p:nvSpPr>
        <p:spPr>
          <a:xfrm>
            <a:off x="3105302" y="2468880"/>
            <a:ext cx="20116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00" dirty="0"/>
          </a:p>
        </p:txBody>
      </p:sp>
      <p:sp>
        <p:nvSpPr>
          <p:cNvPr id="43" name="Shape 41"/>
          <p:cNvSpPr/>
          <p:nvPr/>
        </p:nvSpPr>
        <p:spPr>
          <a:xfrm>
            <a:off x="658368" y="2706624"/>
            <a:ext cx="2776118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2724912"/>
            <a:ext cx="137160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Formulário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713232" y="2871216"/>
            <a:ext cx="137160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padrão · 8 perguntas</a:t>
            </a:r>
            <a:endParaRPr lang="en-US" sz="420" dirty="0"/>
          </a:p>
        </p:txBody>
      </p:sp>
      <p:sp>
        <p:nvSpPr>
          <p:cNvPr id="46" name="Text 44"/>
          <p:cNvSpPr/>
          <p:nvPr/>
        </p:nvSpPr>
        <p:spPr>
          <a:xfrm>
            <a:off x="3105302" y="2834640"/>
            <a:ext cx="20116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400" dirty="0"/>
          </a:p>
        </p:txBody>
      </p:sp>
      <p:sp>
        <p:nvSpPr>
          <p:cNvPr id="47" name="Shape 45"/>
          <p:cNvSpPr/>
          <p:nvPr/>
        </p:nvSpPr>
        <p:spPr>
          <a:xfrm>
            <a:off x="3471062" y="2066544"/>
            <a:ext cx="208849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5926" y="2084832"/>
            <a:ext cx="1978762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Horário de Funcionamento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3525926" y="221284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C4917B"/>
          </a:solidFill>
          <a:ln/>
        </p:spPr>
      </p:sp>
      <p:sp>
        <p:nvSpPr>
          <p:cNvPr id="50" name="Text 48"/>
          <p:cNvSpPr/>
          <p:nvPr/>
        </p:nvSpPr>
        <p:spPr>
          <a:xfrm>
            <a:off x="3672230" y="221284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400" dirty="0"/>
          </a:p>
        </p:txBody>
      </p:sp>
      <p:sp>
        <p:nvSpPr>
          <p:cNvPr id="51" name="Shape 49"/>
          <p:cNvSpPr/>
          <p:nvPr/>
        </p:nvSpPr>
        <p:spPr>
          <a:xfrm>
            <a:off x="4992624" y="220370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47488" y="220370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08:00 - 18:00</a:t>
            </a:r>
            <a:endParaRPr lang="en-US" sz="520" dirty="0"/>
          </a:p>
        </p:txBody>
      </p:sp>
      <p:sp>
        <p:nvSpPr>
          <p:cNvPr id="53" name="Shape 51"/>
          <p:cNvSpPr/>
          <p:nvPr/>
        </p:nvSpPr>
        <p:spPr>
          <a:xfrm>
            <a:off x="3525926" y="235000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E4E4E7"/>
          </a:solidFill>
          <a:ln/>
        </p:spPr>
      </p:sp>
      <p:sp>
        <p:nvSpPr>
          <p:cNvPr id="54" name="Text 52"/>
          <p:cNvSpPr/>
          <p:nvPr/>
        </p:nvSpPr>
        <p:spPr>
          <a:xfrm>
            <a:off x="3672230" y="235000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400" dirty="0"/>
          </a:p>
        </p:txBody>
      </p:sp>
      <p:sp>
        <p:nvSpPr>
          <p:cNvPr id="55" name="Shape 53"/>
          <p:cNvSpPr/>
          <p:nvPr/>
        </p:nvSpPr>
        <p:spPr>
          <a:xfrm>
            <a:off x="4992624" y="234086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234086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08:00 - 18:00</a:t>
            </a:r>
            <a:endParaRPr lang="en-US" sz="520" dirty="0"/>
          </a:p>
        </p:txBody>
      </p:sp>
      <p:sp>
        <p:nvSpPr>
          <p:cNvPr id="57" name="Shape 55"/>
          <p:cNvSpPr/>
          <p:nvPr/>
        </p:nvSpPr>
        <p:spPr>
          <a:xfrm>
            <a:off x="3525926" y="248716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C4917B"/>
          </a:solidFill>
          <a:ln/>
        </p:spPr>
      </p:sp>
      <p:sp>
        <p:nvSpPr>
          <p:cNvPr id="58" name="Text 56"/>
          <p:cNvSpPr/>
          <p:nvPr/>
        </p:nvSpPr>
        <p:spPr>
          <a:xfrm>
            <a:off x="3672230" y="248716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400" dirty="0"/>
          </a:p>
        </p:txBody>
      </p:sp>
      <p:sp>
        <p:nvSpPr>
          <p:cNvPr id="59" name="Shape 57"/>
          <p:cNvSpPr/>
          <p:nvPr/>
        </p:nvSpPr>
        <p:spPr>
          <a:xfrm>
            <a:off x="4992624" y="247802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47488" y="247802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08:00 - 18:00</a:t>
            </a:r>
            <a:endParaRPr lang="en-US" sz="520" dirty="0"/>
          </a:p>
        </p:txBody>
      </p:sp>
      <p:sp>
        <p:nvSpPr>
          <p:cNvPr id="61" name="Shape 59"/>
          <p:cNvSpPr/>
          <p:nvPr/>
        </p:nvSpPr>
        <p:spPr>
          <a:xfrm>
            <a:off x="3525926" y="262432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E4E4E7"/>
          </a:solidFill>
          <a:ln/>
        </p:spPr>
      </p:sp>
      <p:sp>
        <p:nvSpPr>
          <p:cNvPr id="62" name="Text 60"/>
          <p:cNvSpPr/>
          <p:nvPr/>
        </p:nvSpPr>
        <p:spPr>
          <a:xfrm>
            <a:off x="3672230" y="262432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400" dirty="0"/>
          </a:p>
        </p:txBody>
      </p:sp>
      <p:sp>
        <p:nvSpPr>
          <p:cNvPr id="63" name="Shape 61"/>
          <p:cNvSpPr/>
          <p:nvPr/>
        </p:nvSpPr>
        <p:spPr>
          <a:xfrm>
            <a:off x="4992624" y="261518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47488" y="261518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08:00 - 18:00</a:t>
            </a:r>
            <a:endParaRPr lang="en-US" sz="520" dirty="0"/>
          </a:p>
        </p:txBody>
      </p:sp>
      <p:sp>
        <p:nvSpPr>
          <p:cNvPr id="65" name="Shape 63"/>
          <p:cNvSpPr/>
          <p:nvPr/>
        </p:nvSpPr>
        <p:spPr>
          <a:xfrm>
            <a:off x="3525926" y="276148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C4917B"/>
          </a:solidFill>
          <a:ln/>
        </p:spPr>
      </p:sp>
      <p:sp>
        <p:nvSpPr>
          <p:cNvPr id="66" name="Text 64"/>
          <p:cNvSpPr/>
          <p:nvPr/>
        </p:nvSpPr>
        <p:spPr>
          <a:xfrm>
            <a:off x="3672230" y="276148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400" dirty="0"/>
          </a:p>
        </p:txBody>
      </p:sp>
      <p:sp>
        <p:nvSpPr>
          <p:cNvPr id="67" name="Shape 65"/>
          <p:cNvSpPr/>
          <p:nvPr/>
        </p:nvSpPr>
        <p:spPr>
          <a:xfrm>
            <a:off x="4992624" y="275234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47488" y="275234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08:00 - 18:00</a:t>
            </a:r>
            <a:endParaRPr lang="en-US" sz="520" dirty="0"/>
          </a:p>
        </p:txBody>
      </p:sp>
      <p:sp>
        <p:nvSpPr>
          <p:cNvPr id="69" name="Shape 67"/>
          <p:cNvSpPr/>
          <p:nvPr/>
        </p:nvSpPr>
        <p:spPr>
          <a:xfrm>
            <a:off x="3525926" y="2898648"/>
            <a:ext cx="109728" cy="100584"/>
          </a:xfrm>
          <a:prstGeom prst="roundRect">
            <a:avLst>
              <a:gd name="adj" fmla="val 18182"/>
            </a:avLst>
          </a:prstGeom>
          <a:solidFill>
            <a:srgbClr val="E4E4E7"/>
          </a:solidFill>
          <a:ln/>
        </p:spPr>
      </p:sp>
      <p:sp>
        <p:nvSpPr>
          <p:cNvPr id="70" name="Text 68"/>
          <p:cNvSpPr/>
          <p:nvPr/>
        </p:nvSpPr>
        <p:spPr>
          <a:xfrm>
            <a:off x="3672230" y="2898648"/>
            <a:ext cx="274320" cy="100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400" dirty="0"/>
          </a:p>
        </p:txBody>
      </p:sp>
      <p:sp>
        <p:nvSpPr>
          <p:cNvPr id="71" name="Shape 69"/>
          <p:cNvSpPr/>
          <p:nvPr/>
        </p:nvSpPr>
        <p:spPr>
          <a:xfrm>
            <a:off x="4992624" y="2889504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47488" y="2889504"/>
            <a:ext cx="4023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09:00 - 18:00</a:t>
            </a:r>
            <a:endParaRPr lang="en-US" sz="520" dirty="0"/>
          </a:p>
        </p:txBody>
      </p:sp>
      <p:sp>
        <p:nvSpPr>
          <p:cNvPr id="73" name="Shape 71"/>
          <p:cNvSpPr/>
          <p:nvPr/>
        </p:nvSpPr>
        <p:spPr>
          <a:xfrm>
            <a:off x="3471062" y="3035808"/>
            <a:ext cx="2088490" cy="128016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74" name="Text 72"/>
          <p:cNvSpPr/>
          <p:nvPr/>
        </p:nvSpPr>
        <p:spPr>
          <a:xfrm>
            <a:off x="3471062" y="3035808"/>
            <a:ext cx="208849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Horários</a:t>
            </a:r>
            <a:endParaRPr lang="en-US" sz="440" dirty="0"/>
          </a:p>
        </p:txBody>
      </p:sp>
      <p:sp>
        <p:nvSpPr>
          <p:cNvPr id="75" name="Shape 73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6" name="Text 74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com preço, duração, descrição e ativação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8" name="Text 76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formulário com quantas perguntas quiser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0" name="Text 78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de funcionamento dia a dia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82" name="Text 80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da clínica: nome exibido e tema de cores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474720"/>
            <a:ext cx="4023360" cy="402336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DA CLÍNICA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 e cores na </a:t>
            </a:r>
            <a:pPr indent="0" marL="0">
              <a:buNone/>
            </a:pP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identidade da marca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50392"/>
            <a:ext cx="685800" cy="2926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clínica personaliza o nome exibido nas telas e escolhe entre 5 temas de cores — aplicados em todo o sistema.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035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8C7BD"/>
            </a:solidFill>
            <a:prstDash val="solid"/>
          </a:ln>
          <a:effectLst>
            <a:outerShdw sx="100000" sy="100000" kx="0" ky="0" algn="bl" rotWithShape="0" blurRad="63500" dist="25400" dir="16200000">
              <a:srgbClr val="3F3F46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303520" cy="256032"/>
          </a:xfrm>
          <a:prstGeom prst="roundRect">
            <a:avLst>
              <a:gd name="adj" fmla="val 14286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F6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49324"/>
            <a:ext cx="100584" cy="100584"/>
          </a:xfrm>
          <a:prstGeom prst="ellipse">
            <a:avLst/>
          </a:prstGeom>
          <a:solidFill>
            <a:srgbClr val="E457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449324"/>
            <a:ext cx="100584" cy="10058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449324"/>
            <a:ext cx="100584" cy="10058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1417320"/>
            <a:ext cx="462686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417320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https://sua-clinica.com.br/admin/configuracoes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85216" y="1719072"/>
            <a:ext cx="5047488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719072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7550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46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460" dirty="0"/>
          </a:p>
        </p:txBody>
      </p:sp>
      <p:sp>
        <p:nvSpPr>
          <p:cNvPr id="20" name="Text 18"/>
          <p:cNvSpPr/>
          <p:nvPr/>
        </p:nvSpPr>
        <p:spPr>
          <a:xfrm>
            <a:off x="4334256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460" dirty="0"/>
          </a:p>
        </p:txBody>
      </p:sp>
      <p:sp>
        <p:nvSpPr>
          <p:cNvPr id="21" name="Text 19"/>
          <p:cNvSpPr/>
          <p:nvPr/>
        </p:nvSpPr>
        <p:spPr>
          <a:xfrm>
            <a:off x="3913632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460" dirty="0"/>
          </a:p>
        </p:txBody>
      </p:sp>
      <p:sp>
        <p:nvSpPr>
          <p:cNvPr id="22" name="Text 20"/>
          <p:cNvSpPr/>
          <p:nvPr/>
        </p:nvSpPr>
        <p:spPr>
          <a:xfrm>
            <a:off x="3493008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3072384" y="1719072"/>
            <a:ext cx="384048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460" dirty="0"/>
          </a:p>
        </p:txBody>
      </p:sp>
      <p:sp>
        <p:nvSpPr>
          <p:cNvPr id="24" name="Shape 22"/>
          <p:cNvSpPr/>
          <p:nvPr/>
        </p:nvSpPr>
        <p:spPr>
          <a:xfrm>
            <a:off x="2651760" y="170992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709928"/>
            <a:ext cx="3108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440" dirty="0"/>
          </a:p>
        </p:txBody>
      </p:sp>
      <p:sp>
        <p:nvSpPr>
          <p:cNvPr id="26" name="Shape 24"/>
          <p:cNvSpPr/>
          <p:nvPr/>
        </p:nvSpPr>
        <p:spPr>
          <a:xfrm>
            <a:off x="585216" y="1901952"/>
            <a:ext cx="5047488" cy="2670048"/>
          </a:xfrm>
          <a:prstGeom prst="roundRect">
            <a:avLst>
              <a:gd name="adj" fmla="val 685"/>
            </a:avLst>
          </a:prstGeom>
          <a:solidFill>
            <a:srgbClr val="FDFAF8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938528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DA CLÍNICA</a:t>
            </a:r>
            <a:endParaRPr lang="en-US" sz="440" dirty="0"/>
          </a:p>
        </p:txBody>
      </p:sp>
      <p:sp>
        <p:nvSpPr>
          <p:cNvPr id="28" name="Shape 26"/>
          <p:cNvSpPr/>
          <p:nvPr/>
        </p:nvSpPr>
        <p:spPr>
          <a:xfrm>
            <a:off x="658368" y="2048256"/>
            <a:ext cx="490118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066544"/>
            <a:ext cx="1280160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Aparência da Clínica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713232" y="2194560"/>
            <a:ext cx="1097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Clínica</a:t>
            </a:r>
            <a:endParaRPr lang="en-US" sz="420" dirty="0"/>
          </a:p>
        </p:txBody>
      </p:sp>
      <p:sp>
        <p:nvSpPr>
          <p:cNvPr id="31" name="Shape 29"/>
          <p:cNvSpPr/>
          <p:nvPr/>
        </p:nvSpPr>
        <p:spPr>
          <a:xfrm>
            <a:off x="713232" y="2267712"/>
            <a:ext cx="128016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226771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</a:t>
            </a:r>
            <a:endParaRPr lang="en-US" sz="520" dirty="0"/>
          </a:p>
        </p:txBody>
      </p:sp>
      <p:sp>
        <p:nvSpPr>
          <p:cNvPr id="33" name="Text 31"/>
          <p:cNvSpPr/>
          <p:nvPr/>
        </p:nvSpPr>
        <p:spPr>
          <a:xfrm>
            <a:off x="713232" y="2432304"/>
            <a:ext cx="1097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de Cores</a:t>
            </a:r>
            <a:endParaRPr lang="en-US" sz="420" dirty="0"/>
          </a:p>
        </p:txBody>
      </p:sp>
      <p:sp>
        <p:nvSpPr>
          <p:cNvPr id="34" name="Shape 32"/>
          <p:cNvSpPr/>
          <p:nvPr/>
        </p:nvSpPr>
        <p:spPr>
          <a:xfrm>
            <a:off x="713232" y="2523744"/>
            <a:ext cx="918058" cy="457200"/>
          </a:xfrm>
          <a:prstGeom prst="roundRect">
            <a:avLst>
              <a:gd name="adj" fmla="val 6000"/>
            </a:avLst>
          </a:prstGeom>
          <a:solidFill>
            <a:srgbClr val="F5E6DF"/>
          </a:solidFill>
          <a:ln w="6350">
            <a:solidFill>
              <a:srgbClr val="C491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256032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36" name="Shape 34"/>
          <p:cNvSpPr/>
          <p:nvPr/>
        </p:nvSpPr>
        <p:spPr>
          <a:xfrm>
            <a:off x="877824" y="256032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5840" y="2560320"/>
            <a:ext cx="91440" cy="91440"/>
          </a:xfrm>
          <a:prstGeom prst="ellipse">
            <a:avLst/>
          </a:prstGeom>
          <a:solidFill>
            <a:srgbClr val="A8706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33856" y="2560320"/>
            <a:ext cx="91440" cy="91440"/>
          </a:xfrm>
          <a:prstGeom prst="ellipse">
            <a:avLst/>
          </a:prstGeom>
          <a:solidFill>
            <a:srgbClr val="FDFAF8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2688336"/>
            <a:ext cx="84490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Terracota</a:t>
            </a:r>
            <a:endParaRPr lang="en-US" sz="380" dirty="0"/>
          </a:p>
        </p:txBody>
      </p:sp>
      <p:sp>
        <p:nvSpPr>
          <p:cNvPr id="40" name="Shape 38"/>
          <p:cNvSpPr/>
          <p:nvPr/>
        </p:nvSpPr>
        <p:spPr>
          <a:xfrm>
            <a:off x="1677010" y="2523744"/>
            <a:ext cx="918058" cy="457200"/>
          </a:xfrm>
          <a:prstGeom prst="roundRect">
            <a:avLst>
              <a:gd name="adj" fmla="val 6000"/>
            </a:avLst>
          </a:prstGeom>
          <a:solidFill>
            <a:srgbClr val="FDFAF8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13586" y="2560320"/>
            <a:ext cx="91440" cy="91440"/>
          </a:xfrm>
          <a:prstGeom prst="ellipse">
            <a:avLst/>
          </a:prstGeom>
          <a:solidFill>
            <a:srgbClr val="7C8B6E"/>
          </a:solidFill>
          <a:ln/>
        </p:spPr>
      </p:sp>
      <p:sp>
        <p:nvSpPr>
          <p:cNvPr id="42" name="Shape 40"/>
          <p:cNvSpPr/>
          <p:nvPr/>
        </p:nvSpPr>
        <p:spPr>
          <a:xfrm>
            <a:off x="1841602" y="2560320"/>
            <a:ext cx="91440" cy="91440"/>
          </a:xfrm>
          <a:prstGeom prst="ellipse">
            <a:avLst/>
          </a:prstGeom>
          <a:solidFill>
            <a:srgbClr val="B7A05B"/>
          </a:solidFill>
          <a:ln/>
        </p:spPr>
      </p:sp>
      <p:sp>
        <p:nvSpPr>
          <p:cNvPr id="43" name="Shape 41"/>
          <p:cNvSpPr/>
          <p:nvPr/>
        </p:nvSpPr>
        <p:spPr>
          <a:xfrm>
            <a:off x="1969618" y="2560320"/>
            <a:ext cx="91440" cy="91440"/>
          </a:xfrm>
          <a:prstGeom prst="ellipse">
            <a:avLst/>
          </a:prstGeom>
          <a:solidFill>
            <a:srgbClr val="61705A"/>
          </a:solidFill>
          <a:ln/>
        </p:spPr>
      </p:sp>
      <p:sp>
        <p:nvSpPr>
          <p:cNvPr id="44" name="Shape 42"/>
          <p:cNvSpPr/>
          <p:nvPr/>
        </p:nvSpPr>
        <p:spPr>
          <a:xfrm>
            <a:off x="2097634" y="2560320"/>
            <a:ext cx="91440" cy="91440"/>
          </a:xfrm>
          <a:prstGeom prst="ellipse">
            <a:avLst/>
          </a:prstGeom>
          <a:solidFill>
            <a:srgbClr val="F7F9F4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13586" y="2688336"/>
            <a:ext cx="84490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Oliva Sálvia</a:t>
            </a:r>
            <a:endParaRPr lang="en-US" sz="380" dirty="0"/>
          </a:p>
        </p:txBody>
      </p:sp>
      <p:sp>
        <p:nvSpPr>
          <p:cNvPr id="46" name="Shape 44"/>
          <p:cNvSpPr/>
          <p:nvPr/>
        </p:nvSpPr>
        <p:spPr>
          <a:xfrm>
            <a:off x="2640787" y="2523744"/>
            <a:ext cx="918058" cy="457200"/>
          </a:xfrm>
          <a:prstGeom prst="roundRect">
            <a:avLst>
              <a:gd name="adj" fmla="val 6000"/>
            </a:avLst>
          </a:prstGeom>
          <a:solidFill>
            <a:srgbClr val="FDFAF8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77363" y="2560320"/>
            <a:ext cx="91440" cy="91440"/>
          </a:xfrm>
          <a:prstGeom prst="ellipse">
            <a:avLst/>
          </a:prstGeom>
          <a:solidFill>
            <a:srgbClr val="D9A6B4"/>
          </a:solidFill>
          <a:ln/>
        </p:spPr>
      </p:sp>
      <p:sp>
        <p:nvSpPr>
          <p:cNvPr id="48" name="Shape 46"/>
          <p:cNvSpPr/>
          <p:nvPr/>
        </p:nvSpPr>
        <p:spPr>
          <a:xfrm>
            <a:off x="2805379" y="2560320"/>
            <a:ext cx="91440" cy="91440"/>
          </a:xfrm>
          <a:prstGeom prst="ellipse">
            <a:avLst/>
          </a:prstGeom>
          <a:solidFill>
            <a:srgbClr val="C9A08C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3395" y="2560320"/>
            <a:ext cx="91440" cy="91440"/>
          </a:xfrm>
          <a:prstGeom prst="ellipse">
            <a:avLst/>
          </a:prstGeom>
          <a:solidFill>
            <a:srgbClr val="BE8294"/>
          </a:solidFill>
          <a:ln/>
        </p:spPr>
      </p:sp>
      <p:sp>
        <p:nvSpPr>
          <p:cNvPr id="50" name="Shape 48"/>
          <p:cNvSpPr/>
          <p:nvPr/>
        </p:nvSpPr>
        <p:spPr>
          <a:xfrm>
            <a:off x="3061411" y="2560320"/>
            <a:ext cx="91440" cy="91440"/>
          </a:xfrm>
          <a:prstGeom prst="ellipse">
            <a:avLst/>
          </a:prstGeom>
          <a:solidFill>
            <a:srgbClr val="FBF5F7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7363" y="2688336"/>
            <a:ext cx="84490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Quartzo</a:t>
            </a:r>
            <a:endParaRPr lang="en-US" sz="380" dirty="0"/>
          </a:p>
        </p:txBody>
      </p:sp>
      <p:sp>
        <p:nvSpPr>
          <p:cNvPr id="52" name="Shape 50"/>
          <p:cNvSpPr/>
          <p:nvPr/>
        </p:nvSpPr>
        <p:spPr>
          <a:xfrm>
            <a:off x="3604565" y="2523744"/>
            <a:ext cx="918058" cy="457200"/>
          </a:xfrm>
          <a:prstGeom prst="roundRect">
            <a:avLst>
              <a:gd name="adj" fmla="val 6000"/>
            </a:avLst>
          </a:prstGeom>
          <a:solidFill>
            <a:srgbClr val="FDFAF8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41141" y="2560320"/>
            <a:ext cx="91440" cy="91440"/>
          </a:xfrm>
          <a:prstGeom prst="ellipse">
            <a:avLst/>
          </a:prstGeom>
          <a:solidFill>
            <a:srgbClr val="A49BD9"/>
          </a:solidFill>
          <a:ln/>
        </p:spPr>
      </p:sp>
      <p:sp>
        <p:nvSpPr>
          <p:cNvPr id="54" name="Shape 52"/>
          <p:cNvSpPr/>
          <p:nvPr/>
        </p:nvSpPr>
        <p:spPr>
          <a:xfrm>
            <a:off x="3769157" y="2560320"/>
            <a:ext cx="91440" cy="91440"/>
          </a:xfrm>
          <a:prstGeom prst="ellipse">
            <a:avLst/>
          </a:prstGeom>
          <a:solidFill>
            <a:srgbClr val="B99B6B"/>
          </a:solidFill>
          <a:ln/>
        </p:spPr>
      </p:sp>
      <p:sp>
        <p:nvSpPr>
          <p:cNvPr id="55" name="Shape 53"/>
          <p:cNvSpPr/>
          <p:nvPr/>
        </p:nvSpPr>
        <p:spPr>
          <a:xfrm>
            <a:off x="3897173" y="2560320"/>
            <a:ext cx="91440" cy="91440"/>
          </a:xfrm>
          <a:prstGeom prst="ellipse">
            <a:avLst/>
          </a:prstGeom>
          <a:solidFill>
            <a:srgbClr val="857BC4"/>
          </a:solidFill>
          <a:ln/>
        </p:spPr>
      </p:sp>
      <p:sp>
        <p:nvSpPr>
          <p:cNvPr id="56" name="Shape 54"/>
          <p:cNvSpPr/>
          <p:nvPr/>
        </p:nvSpPr>
        <p:spPr>
          <a:xfrm>
            <a:off x="4025189" y="2560320"/>
            <a:ext cx="91440" cy="91440"/>
          </a:xfrm>
          <a:prstGeom prst="ellipse">
            <a:avLst/>
          </a:prstGeom>
          <a:solidFill>
            <a:srgbClr val="F8F7FB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41141" y="2688336"/>
            <a:ext cx="84490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Lavanda Serena</a:t>
            </a:r>
            <a:endParaRPr lang="en-US" sz="380" dirty="0"/>
          </a:p>
        </p:txBody>
      </p:sp>
      <p:sp>
        <p:nvSpPr>
          <p:cNvPr id="58" name="Shape 56"/>
          <p:cNvSpPr/>
          <p:nvPr/>
        </p:nvSpPr>
        <p:spPr>
          <a:xfrm>
            <a:off x="4568342" y="2523744"/>
            <a:ext cx="918058" cy="457200"/>
          </a:xfrm>
          <a:prstGeom prst="roundRect">
            <a:avLst>
              <a:gd name="adj" fmla="val 6000"/>
            </a:avLst>
          </a:prstGeom>
          <a:solidFill>
            <a:srgbClr val="FDFAF8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04918" y="2560320"/>
            <a:ext cx="91440" cy="91440"/>
          </a:xfrm>
          <a:prstGeom prst="ellipse">
            <a:avLst/>
          </a:prstGeom>
          <a:solidFill>
            <a:srgbClr val="8FB4D6"/>
          </a:solidFill>
          <a:ln/>
        </p:spPr>
      </p:sp>
      <p:sp>
        <p:nvSpPr>
          <p:cNvPr id="60" name="Shape 58"/>
          <p:cNvSpPr/>
          <p:nvPr/>
        </p:nvSpPr>
        <p:spPr>
          <a:xfrm>
            <a:off x="4732934" y="2560320"/>
            <a:ext cx="91440" cy="91440"/>
          </a:xfrm>
          <a:prstGeom prst="ellipse">
            <a:avLst/>
          </a:prstGeom>
          <a:solidFill>
            <a:srgbClr val="C0A26B"/>
          </a:solidFill>
          <a:ln/>
        </p:spPr>
      </p:sp>
      <p:sp>
        <p:nvSpPr>
          <p:cNvPr id="61" name="Shape 59"/>
          <p:cNvSpPr/>
          <p:nvPr/>
        </p:nvSpPr>
        <p:spPr>
          <a:xfrm>
            <a:off x="4860950" y="2560320"/>
            <a:ext cx="91440" cy="91440"/>
          </a:xfrm>
          <a:prstGeom prst="ellipse">
            <a:avLst/>
          </a:prstGeom>
          <a:solidFill>
            <a:srgbClr val="6E97BC"/>
          </a:solidFill>
          <a:ln/>
        </p:spPr>
      </p:sp>
      <p:sp>
        <p:nvSpPr>
          <p:cNvPr id="62" name="Shape 60"/>
          <p:cNvSpPr/>
          <p:nvPr/>
        </p:nvSpPr>
        <p:spPr>
          <a:xfrm>
            <a:off x="4988966" y="2560320"/>
            <a:ext cx="91440" cy="91440"/>
          </a:xfrm>
          <a:prstGeom prst="ellipse">
            <a:avLst/>
          </a:prstGeom>
          <a:solidFill>
            <a:srgbClr val="F6F9FC"/>
          </a:solidFill>
          <a:ln w="6350">
            <a:solidFill>
              <a:srgbClr val="C9C9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04918" y="2688336"/>
            <a:ext cx="84490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Céu Pastel</a:t>
            </a:r>
            <a:endParaRPr lang="en-US" sz="380" dirty="0"/>
          </a:p>
        </p:txBody>
      </p:sp>
      <p:sp>
        <p:nvSpPr>
          <p:cNvPr id="64" name="Shape 62"/>
          <p:cNvSpPr/>
          <p:nvPr/>
        </p:nvSpPr>
        <p:spPr>
          <a:xfrm>
            <a:off x="713232" y="3054096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</p:sp>
      <p:sp>
        <p:nvSpPr>
          <p:cNvPr id="65" name="Text 63"/>
          <p:cNvSpPr/>
          <p:nvPr/>
        </p:nvSpPr>
        <p:spPr>
          <a:xfrm>
            <a:off x="713232" y="305409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Configuração</a:t>
            </a:r>
            <a:endParaRPr lang="en-US" sz="420" dirty="0"/>
          </a:p>
        </p:txBody>
      </p:sp>
      <p:sp>
        <p:nvSpPr>
          <p:cNvPr id="66" name="Shape 64"/>
          <p:cNvSpPr/>
          <p:nvPr/>
        </p:nvSpPr>
        <p:spPr>
          <a:xfrm>
            <a:off x="6035040" y="1467612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7" name="Text 65"/>
          <p:cNvSpPr/>
          <p:nvPr/>
        </p:nvSpPr>
        <p:spPr>
          <a:xfrm>
            <a:off x="6208776" y="141732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clínica em todas as telas (site, login, dashboard e PDFs)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035040" y="1979676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69" name="Text 67"/>
          <p:cNvSpPr/>
          <p:nvPr/>
        </p:nvSpPr>
        <p:spPr>
          <a:xfrm>
            <a:off x="6208776" y="19293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temas prontos: Terracota, Oliva, Rosa, Lavanda e Céu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6035040" y="2491740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1" name="Text 69"/>
          <p:cNvSpPr/>
          <p:nvPr/>
        </p:nvSpPr>
        <p:spPr>
          <a:xfrm>
            <a:off x="6208776" y="244144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aplicado em botões, textos, fundos e destaques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6035040" y="3003804"/>
            <a:ext cx="91440" cy="91440"/>
          </a:xfrm>
          <a:prstGeom prst="ellipse">
            <a:avLst/>
          </a:prstGeom>
          <a:solidFill>
            <a:srgbClr val="C4917B"/>
          </a:solidFill>
          <a:ln/>
        </p:spPr>
      </p:sp>
      <p:sp>
        <p:nvSpPr>
          <p:cNvPr id="73" name="Text 71"/>
          <p:cNvSpPr/>
          <p:nvPr/>
        </p:nvSpPr>
        <p:spPr>
          <a:xfrm>
            <a:off x="6208776" y="29535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precisa de assistência para personalizar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291840"/>
            <a:ext cx="4206240" cy="42062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828800"/>
            <a:ext cx="3840480" cy="384048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0" y="128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conhecer na prática?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RBClinic: gestão completa de clínica de estética com agendamento online, anamnese digital assinada, confirmação por WhatsApp, área do cliente e painel administrativo.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23774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295144" y="23774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95144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86584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+ assinatura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886200" y="23774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86200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inclusa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77256" y="23774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77256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68696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068312" y="23774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12700" dir="16200000">
              <a:srgbClr val="3F3F46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68312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9752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194560" y="370332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3F3F46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37764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sua demonstração e implante o RBClinic na sua clínica.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401421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contato@rbclinic.com.br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882896"/>
            <a:ext cx="8229600" cy="10973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Telas e funcionalidades do aplicativo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RBClinic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RBClinic - Telas do Aplicativo</dc:title>
  <dc:subject>PptxGenJS Presentation</dc:subject>
  <dc:creator>RBClinic</dc:creator>
  <cp:lastModifiedBy>RBClinic</cp:lastModifiedBy>
  <cp:revision>1</cp:revision>
  <dcterms:created xsi:type="dcterms:W3CDTF">2026-08-14T02:24:00Z</dcterms:created>
  <dcterms:modified xsi:type="dcterms:W3CDTF">2026-08-14T02:24:00Z</dcterms:modified>
</cp:coreProperties>
</file>